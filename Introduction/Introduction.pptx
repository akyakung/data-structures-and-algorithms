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349" r:id="rId2"/>
    <p:sldId id="394" r:id="rId3"/>
    <p:sldId id="358" r:id="rId4"/>
    <p:sldId id="359" r:id="rId5"/>
    <p:sldId id="357" r:id="rId6"/>
    <p:sldId id="371" r:id="rId7"/>
    <p:sldId id="372" r:id="rId8"/>
    <p:sldId id="373" r:id="rId9"/>
    <p:sldId id="329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30" r:id="rId18"/>
    <p:sldId id="331" r:id="rId19"/>
    <p:sldId id="367" r:id="rId20"/>
    <p:sldId id="368" r:id="rId21"/>
    <p:sldId id="369" r:id="rId22"/>
    <p:sldId id="338" r:id="rId23"/>
    <p:sldId id="340" r:id="rId24"/>
    <p:sldId id="343" r:id="rId25"/>
    <p:sldId id="286" r:id="rId26"/>
    <p:sldId id="344" r:id="rId27"/>
    <p:sldId id="342" r:id="rId28"/>
    <p:sldId id="346" r:id="rId29"/>
    <p:sldId id="347" r:id="rId30"/>
    <p:sldId id="348" r:id="rId31"/>
    <p:sldId id="350" r:id="rId32"/>
    <p:sldId id="374" r:id="rId33"/>
    <p:sldId id="351" r:id="rId34"/>
    <p:sldId id="341" r:id="rId35"/>
    <p:sldId id="375" r:id="rId36"/>
    <p:sldId id="352" r:id="rId37"/>
    <p:sldId id="354" r:id="rId38"/>
    <p:sldId id="353" r:id="rId39"/>
    <p:sldId id="376" r:id="rId40"/>
    <p:sldId id="377" r:id="rId41"/>
    <p:sldId id="345" r:id="rId42"/>
    <p:sldId id="356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289" r:id="rId52"/>
    <p:sldId id="386" r:id="rId53"/>
    <p:sldId id="395" r:id="rId54"/>
    <p:sldId id="324" r:id="rId55"/>
    <p:sldId id="323" r:id="rId56"/>
    <p:sldId id="397" r:id="rId57"/>
    <p:sldId id="325" r:id="rId58"/>
    <p:sldId id="326" r:id="rId59"/>
    <p:sldId id="396" r:id="rId60"/>
    <p:sldId id="355" r:id="rId61"/>
  </p:sldIdLst>
  <p:sldSz cx="9144000" cy="6858000" type="screen4x3"/>
  <p:notesSz cx="6858000" cy="9144000"/>
  <p:defaultTextStyle>
    <a:defPPr>
      <a:defRPr lang="th-TH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itchFamily="34" charset="0"/>
        <a:ea typeface="+mn-ea"/>
        <a:cs typeface="Angsana New" pitchFamily="18" charset="-34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itchFamily="34" charset="0"/>
        <a:ea typeface="+mn-ea"/>
        <a:cs typeface="Angsana New" pitchFamily="18" charset="-34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itchFamily="34" charset="0"/>
        <a:ea typeface="+mn-ea"/>
        <a:cs typeface="Angsana New" pitchFamily="18" charset="-34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itchFamily="34" charset="0"/>
        <a:ea typeface="+mn-ea"/>
        <a:cs typeface="Angsana New" pitchFamily="18" charset="-34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itchFamily="34" charset="0"/>
        <a:ea typeface="+mn-ea"/>
        <a:cs typeface="Angsana New" pitchFamily="18" charset="-34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itchFamily="34" charset="0"/>
        <a:ea typeface="+mn-ea"/>
        <a:cs typeface="Angsana New" pitchFamily="18" charset="-34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itchFamily="34" charset="0"/>
        <a:ea typeface="+mn-ea"/>
        <a:cs typeface="Angsana New" pitchFamily="18" charset="-34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itchFamily="34" charset="0"/>
        <a:ea typeface="+mn-ea"/>
        <a:cs typeface="Angsana New" pitchFamily="18" charset="-34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itchFamily="34" charset="0"/>
        <a:ea typeface="+mn-ea"/>
        <a:cs typeface="Angsana New" pitchFamily="18" charset="-3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6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>
      <p:cViewPr varScale="1">
        <p:scale>
          <a:sx n="90" d="100"/>
          <a:sy n="90" d="100"/>
        </p:scale>
        <p:origin x="143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F103A-94D7-42E6-809C-C74B4AE0F39D}" type="datetimeFigureOut">
              <a:rPr lang="th-TH" smtClean="0"/>
              <a:t>14/07/69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73F60-2503-453C-9E71-58EA783BA64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04804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B519C2-3824-42A6-8BE9-7E6D2CC593AF}" type="slidenum">
              <a:rPr lang="en-US" smtClean="0"/>
              <a:pPr>
                <a:defRPr/>
              </a:pPr>
              <a:t>41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32632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h-TH"/>
              <a:t>คลิกเพื่อแก้ไขลักษณะชื่อเรื่องรองต้นแบบ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A2096F-3BB7-4BF2-BEDC-1CB98A9A93E3}" type="slidenum">
              <a:rPr lang="en-US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B1A039-6192-4B0A-91BC-32321F3C48F2}" type="slidenum">
              <a:rPr lang="en-US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B0B161-06ED-461F-96A8-AF0A69F1B73D}" type="slidenum">
              <a:rPr lang="en-US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B4C8CC-7335-4FD3-A8B6-E026A5A178C0}" type="slidenum">
              <a:rPr lang="en-US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ยึดข้อความ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ยึดเนื้อหา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ยึด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8" name="ตัวยึด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9" name="ตัวยึด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7A64A-C336-412E-8B9A-D5BB5BF22179}" type="slidenum">
              <a:rPr lang="en-US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4" name="ตัวยึด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5" name="ตัวยึด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5B6501-EF14-4EF5-A3F8-61F735F800B5}" type="slidenum">
              <a:rPr lang="en-US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3" name="ตัวยึด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DC5A5E-249A-4F52-ABD9-A99D59BD879A}" type="slidenum">
              <a:rPr lang="en-US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31FFD-D5B2-4BC3-BB06-8414372C0639}" type="slidenum">
              <a:rPr lang="en-US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รูปภาพ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0AD7AA-F4A0-4A04-A0F8-3269BF19DA79}" type="slidenum">
              <a:rPr lang="en-US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AED306-CF42-4F53-B0CB-A61A9052043E}" type="slidenum">
              <a:rPr lang="en-US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CD715-5101-4E82-A3FD-8AC4B48A24C1}" type="slidenum">
              <a:rPr lang="en-US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ชื่อเรื่องและตารา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ตาราง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th-TH"/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4980AF3-155A-4804-8EFC-7D062A14B0CB}" type="slidenum">
              <a:rPr lang="en-US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th-TH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th-TH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7373435-AFF2-4C18-AAF8-DBF90E03EBA9}" type="slidenum">
              <a:rPr lang="en-US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eb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eb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eb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/>
          <p:cNvSpPr/>
          <p:nvPr/>
        </p:nvSpPr>
        <p:spPr>
          <a:xfrm>
            <a:off x="611560" y="1196752"/>
            <a:ext cx="7416824" cy="1634480"/>
          </a:xfrm>
          <a:prstGeom prst="rect">
            <a:avLst/>
          </a:prstGeom>
          <a:solidFill>
            <a:srgbClr val="92D050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4400" b="1" dirty="0">
                <a:latin typeface="Angsana New" pitchFamily="18" charset="-34"/>
                <a:cs typeface="Angsana New" pitchFamily="18" charset="-34"/>
              </a:rPr>
              <a:t>โครงสร้างข้อมูลและขั้นตอนวิธี</a:t>
            </a:r>
            <a:endParaRPr lang="th-TH" sz="4400" dirty="0"/>
          </a:p>
        </p:txBody>
      </p:sp>
      <p:sp>
        <p:nvSpPr>
          <p:cNvPr id="21506" name="AutoShape 2" descr="data:image/jpg;base64,/9j/4AAQSkZJRgABAQAAAQABAAD/2wBDAAkGBwgHBgkIBwgKCgkLDRYPDQwMDRsUFRAWIB0iIiAdHx8kKDQsJCYxJx8fLT0tMTU3Ojo6Iys/RD84QzQ5Ojf/2wBDAQoKCg0MDRoPDxo3JR8lNzc3Nzc3Nzc3Nzc3Nzc3Nzc3Nzc3Nzc3Nzc3Nzc3Nzc3Nzc3Nzc3Nzc3Nzc3Nzc3Nzf/wAARCACUALADASIAAhEBAxEB/8QAGwAAAQUBAQAAAAAAAAAAAAAAAAEDBAUGAgf/xAA8EAABAwIDBAcECgEFAQAAAAABAAIDBBEFEiEGEzFhFDJBUXGBoSJSkcEHFSMzQmJysdHhgiQ1c4Pw0v/EABoBAAIDAQEAAAAAAAAAAAAAAAAFAQMEBgL/xAAzEQABAwIFAgQEBQUBAAAAAAABAAIDBBEFEhMhUTFBFCJhgUJxkdEyM6HB4QYkNFLwsf/aAAwDAQACEQMRAD8A9xQhCEISJUzVTsp4HSyHQepUE2FypAubBdSysiaXSOACgSYlf7ttvFU1RWyTyFzz26DuTe+5pXLWkmzUwjorC7lbmukJ65TcuIujsC5xc46BVom56JITqamTt0YCvUMpdd7jsFEsYbZoG5V06uflFiQbarjpsvvn4qp32qXfql1U4m91a2lAFrK26dL76Xp0vv8Aoqjf80b/AJo8S7lT4ZvCt+nS+96LoV8nf6Kn3/NG/wCaPEu5UeGbwrjp8vePgjp8nePgqff80u/Pep8U7lHhm8K46fJy+CX6wf3D4KnE3NG+5o8U7lR4ZvCuPrB/aB8F0MQPa0FUu/5pd9zUiqdyoNK3hX8NdDI4NLsrzoAe3wUoG6yckgkYWuOh7FP2cxc1L5qCodeop2hwceL2cL+I4HyWyCp1DY9VlmpzHuOivkIQtazIWc2nqvtIqZvYM7v2HzWjPBYLE6rpGITy5rjNlb4DQftfzWDEJckVuVtoIs8t+EB+iM6i50udINRPcimxtL7NHFxTlbIBJuhwZp5rrDW3dmdwa26rpJS97nE6k3TCd2lTsZzusEDdSdzj22UjOjPzUbPzRnWDUW7IpOdLnUXec0bzmjURkUrOjOo2fmjOjUUZFJz80offhrZRs5uB3qxii6HRyT1XsvkbkiYeOvarY7vVchDFHz80Zz3qNvNSjeLxqL3kUnPzRvD3qPnRn5o1FORSd5pxUHBJHnbql3brDcytfzaRe3xAPknC/TimNiQana+ea1xFCfK+i20BzTBYq0ZYivSkISFPkkUPFavoeHVE99WsOX9XAetl54HdhJNlqNuKvd0kFM0i8j8zvAf2QsdnK5vF57zBg7LocJgtEX8qVvEB+qjZ0Z0pzppkWmpfZop3DsjVFnCvKM58PnHfGT6LNl+qa4k6wj+SWYc25k+ak50Z1G3iM6V50zyKTnS51Gzo3iM6jIpOdSKGnkrahkMNszu08AO9VwffgrHA8QbQV7ZJPu3DK49w71dC5pkAf0VUwcIyWdVe08MFHU9Fo4xU1o6z39WNQsTqaaOZwe51ZU9rnGzG8gBxUjBJW0mNzQTODhN1H+9fUHzVNjkTKbE5o2OBAdccr9i3zSZYMzR3Itx9/ml0MeafK432vfn+PRNyTGR1zYdwAsAuc6jbxLnSwyXTQR2UjOlzqNnS7xGdTkTs0uWNx5KZ9F8eeoxOrPa4NH/vJUuITZaWQ37FqvovhyYE6UjWV5ddOcIGZznJRipytaFskhKVNVUzaenkmf1Y2lx8ALp6TYXSO11gdrKrpONStBu2ECMeWp9T6KnukkkdK90rz7b3FzvE6lIuFqZTLK5/JXa08WlE1nC6uglc3RdU3V1lqMFdngLfeYR6LNyezI4c1fYA/wBlipK9uStmba1nlOK/zU0L/RKaHy1ErPVNXRdc3RdJ7psurouDxXKdhgmnNoYnvP5W3XoAk2C8uIA3VvgU1HbcSYe6eZ18r22cR5HRLWMw+R5bJU1DC09UwN0+BUOghmpsQiEsxpCTrIexacw4vJrFJRVcfY54aSfRNadpliyubuPT7EJTO4Ry5mu6+v3BCpIHUNO8SR4hNnaLMO4vl8NVBrDR3LopJ5ZSbkvaAP3utLJHi8bHONNh7La3DWgrMT1kjqt0tRDE+QaEZbD4DivFS0MaGkW9j917pnGRxcDf3H2VphkENVhtVLVU8cTI2+xM0ZTfu5qhvzT1ViFRVNayV5yN6rGizR4AKOsk8rXgBvbvytkETmFxd37cLq6LrlCz3Wiyr8cky0jgDqdF6dsVB0fZ6mZaxLQfReWYxeWanhHF7wF7Jg8Qhw6FgFgG6Lp8GbaEu5XOYw68ob6KZdUO2lVuMGdGOtO4R8ezifQK9JWG25qt7iUVO06QsufF39ALXiM2lTOPc7LJQRatQ0e6zd9eSLotrZFlxd12GyLouiyLdyFKvcDNo4z+YqBjQy4jNzddTsIGWKHmSoWOf7jL4pzVf4ESTUp/v5FAui6LISZOEoPcrbDccmoaZ1PuYpIXXzBw4+aqACSFpMSwuOPCsPhggBq59c3adL/MLXStk8z4zayyVTovKyQXuuGOwirAcYGROP4WVBb6OFk6zDaE6xyVTf0Sxn5qtl2fxKKEymC7Wi5yuBIUOWjqoqdlRJE4QP6rzwKvMj2/mR/ss4jY78uX91fuwiF/F9c4cwz/AOk07CKWLV7ZP+6oYwelyqTo1VuWzbl+7cbNfl0KWShrGR7x1NKGcS4sK86rTvpf99F60XDbV/76p3ERCJfsXxOvxEQOUeZ4+Kh3snJaaeKNskkTmtdqHEaFNLFISXXIstsYAbYG66ukukSHhfsXhWKFCzpO0lHEdQ12Y+S9npG5aaIdzAvIdl4+kbSvfx3bD66L2NosLLs8NZlpmrkMRfmqHJHEAEngAvL8SnNZX1FRxEkhLb93Aellv9oak0uEVDwbOc3I3xOi87DdNOCVY7N+GIfNb8Hjtmk9k3lRlTmVFlzt09um7IypzKuooy+RrBxcbKQVBdYXVvh7MvR29oaCVV4kd5XTO/MrmnIEj3/haP2VFIc73OPaSU6xQ6cMUPASjDvPNJJ6pmyLLuyLJLdObpyggNRVwxD8bwPVbDFqFtdXkPkdHT0cILsgu4k62HkqHBKqioXGqqA+SZn3bBw8bptmNVsdVNURSZXSm7hxCaU8sMMNpN8x6D0590sqGTTS3ZtlG3v/AAr7CTS09BXVVMyoa1rCPtjfMVxTUz8S2Zip2C7hNYctf4Ko6jG66ogkgmlDo5OIslw/G6qgpnwQZMriTcjUeCuFdCXBp/DYg7cnhUmjmALh+K4P0V1XRz1NZBhuGvEbKNuZ0hOgI7VLwV53sxfihrAxhL2lpsPMrM4Vi0uHzSSBol3gs8O7VLG0Ajhnip6GGFsrSPYvf49q9xVsObUcbHfbf29F5kpJrZALjnb367qlqpHySuGY5MxIbfQJmy7IuUWSRzsxunTfKLJuy5l9mNx5J2yYrjlpnnkpZuQFLnWBKm/R5BvMRnmPbI1v/vgvVAvPfo2g+xY8jV73OXoa72BuWJrfRcTM7PIXLKbaVFzTUrT3yOHoPmsuBorPaCYz4zVa3EbhGOVgPmSq+y4rE5jJVPPG30XS0LNOBo53XFkmVOZUWWC613TdlKoGWe6UjRg0PMpiysI48rGQjrE3Pit+Gwa1QAeg3Kx10+nCbdSlmfuaF3vSGyq8qm4i/PII29Vgt5qLZecQqdeoc4dOgU0MelCAepTZCLLuyLLFdbLqbTw4a6Fu/lkbIeNm3H7p3oeGO4Vjh4s/tVtkWWgVDQLFg/VUGJxNw8/orL6tondSvZ/k1w+ST6oiPVroD4uI+SrreKNewleteLuwfUqNOTs//wAVh9SPJ9iop3f9oXLsDqQCQWEDtEjT81CzO94pd5IODjbxRqQH4D9UZZv9h9E0+MseQbaaaJLLs6m6SyzkrQCbbriyr8YdlpXDtKs7Koxy53cY4ucB6rRSNzzNHqqqh+WJx9FvNgYN1RQ6HSIH4rXqh2UiEdO4D8LWt9FfLvgLCy48rznHG9H2krYnjKJS2VhPaCBf1BTOVaXbTApcTp46uhH+upr5Be28aeLf4/tYemxdjHGKsa6KVps4PFrFcbi1E+OcvaNjuuhoalr4w09QrOySybZWU7hpK3VONlicfZe34pPldwtucJ2njGbO7qt9SpQfkY+Z3WOjfFcho9mNvAak8+9N1EgeQ1pBY3hqnZPgaO3xyfoEsv4qov8AC1RjqbniUlk5ZFkjumoKbyosnLJLIupum7IsnLIsi6LpuySycsiyLoum7IsnMqLIupum7Isu7Ispui6bsqWZwqcepYG62fmI5BWGK1sdFTuLnDNZVexlPLXYlNiswO7F4oeZ/Efl8U5wenc+YPPQJfiEwbEW9yvW8AZlpCfecrRQsIZkoYx36qauyXOpDwVViuz2G4qc1XTtL7WzjR39q2QvD2NeLOF1IcW7hZKXYDB3D7NsrT3iQqMfo+pWuDoqqdpBvYv0/ZbZCp8HAfhC960nKy2JbMyVdKYYag05LgS9ljp3aqil2GxSP7nEs/6ox/K9Fslsomo4Zjd4UsnkjFmleXv2W2hi6srH24aFR5MK2kgF3xsI8SB6her2RZZXYRTHsrhWzDuvInDHI+tStd+mQFc9MxRnXoJfJt1666ON/XY13iLpmTD6OTrU0Xk2yqdglOeisGISheTnFqhn3lFO0f8AGUfX0Q68T2272lenyYLQv4RFv6XKNLs3Sv6r3DxF1Q7AYz0K9jEpO4XnrcdpT22TrcYo3fjA8SthLslE4m26cPzMH8KBPsZGdRSwu8AP6VLv6f4crBiZ7hUTcRpXcJAnBV07uErVLm2OiHGit4A/yoUuysDfwSM8HkfuqXYBJ2K9jE28IkraaNpLpWqpxDaKCIFsHtO5KW/ZOFztZJLd17qRR7NUVOb7jeO96TX0Uw4I7N5lLsRbbZZijwutx+cS1RdFSX1dwLuTf5XoOCYc0GKnpowyJgDWtA0aApNBhU07hlbZvC5GgWooKKKiiys1d2u710lPTsgbZqVSzOlNyn4oxHG1jdA0ABdoQr1UhCEIQhCEIQhCEIQhCEIQhCEIQhCEIQhCEIQkSEA8QD4oQhCafSwP60LD/iEjKOmZ1YWDyuhCEJ8C1kqEIQhCEIQv/9k="/>
          <p:cNvSpPr>
            <a:spLocks noChangeAspect="1" noChangeArrowheads="1"/>
          </p:cNvSpPr>
          <p:nvPr/>
        </p:nvSpPr>
        <p:spPr bwMode="auto">
          <a:xfrm>
            <a:off x="112713" y="-652463"/>
            <a:ext cx="1524000" cy="12858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21508" name="AutoShape 4" descr="data:image/jpg;base64,/9j/4AAQSkZJRgABAQAAAQABAAD/2wBDAAkGBwgHBgkIBwgKCgkLDRYPDQwMDRsUFRAWIB0iIiAdHx8kKDQsJCYxJx8fLT0tMTU3Ojo6Iys/RD84QzQ5Ojf/2wBDAQoKCg0MDRoPDxo3JR8lNzc3Nzc3Nzc3Nzc3Nzc3Nzc3Nzc3Nzc3Nzc3Nzc3Nzc3Nzc3Nzc3Nzc3Nzc3Nzc3Nzf/wAARCACUALADASIAAhEBAxEB/8QAGwAAAQUBAQAAAAAAAAAAAAAAAAEDBAUGAgf/xAA8EAABAwIDBAcECgEFAQAAAAABAAIDBBEFEiEGEzFhFDJBUXGBoSJSkcEHFSMzQmJysdHhgiQ1c4Pw0v/EABoBAAIDAQEAAAAAAAAAAAAAAAAFAQMEBgL/xAAzEQABAwIFAgQEBQUBAAAAAAABAAIDBBEFEhMhUTFBFCJhgUJxkdEyM6HB4QYkNFLwsf/aAAwDAQACEQMRAD8A9xQhCEISJUzVTsp4HSyHQepUE2FypAubBdSysiaXSOACgSYlf7ttvFU1RWyTyFzz26DuTe+5pXLWkmzUwjorC7lbmukJ65TcuIujsC5xc46BVom56JITqamTt0YCvUMpdd7jsFEsYbZoG5V06uflFiQbarjpsvvn4qp32qXfql1U4m91a2lAFrK26dL76Xp0vv8Aoqjf80b/AJo8S7lT4ZvCt+nS+96LoV8nf6Kn3/NG/wCaPEu5UeGbwrjp8vePgjp8nePgqff80u/Pep8U7lHhm8K46fJy+CX6wf3D4KnE3NG+5o8U7lR4ZvCuPrB/aB8F0MQPa0FUu/5pd9zUiqdyoNK3hX8NdDI4NLsrzoAe3wUoG6yckgkYWuOh7FP2cxc1L5qCodeop2hwceL2cL+I4HyWyCp1DY9VlmpzHuOivkIQtazIWc2nqvtIqZvYM7v2HzWjPBYLE6rpGITy5rjNlb4DQftfzWDEJckVuVtoIs8t+EB+iM6i50udINRPcimxtL7NHFxTlbIBJuhwZp5rrDW3dmdwa26rpJS97nE6k3TCd2lTsZzusEDdSdzj22UjOjPzUbPzRnWDUW7IpOdLnUXec0bzmjURkUrOjOo2fmjOjUUZFJz80offhrZRs5uB3qxii6HRyT1XsvkbkiYeOvarY7vVchDFHz80Zz3qNvNSjeLxqL3kUnPzRvD3qPnRn5o1FORSd5pxUHBJHnbql3brDcytfzaRe3xAPknC/TimNiQana+ea1xFCfK+i20BzTBYq0ZYivSkISFPkkUPFavoeHVE99WsOX9XAetl54HdhJNlqNuKvd0kFM0i8j8zvAf2QsdnK5vF57zBg7LocJgtEX8qVvEB+qjZ0Z0pzppkWmpfZop3DsjVFnCvKM58PnHfGT6LNl+qa4k6wj+SWYc25k+ak50Z1G3iM6V50zyKTnS51Gzo3iM6jIpOdSKGnkrahkMNszu08AO9VwffgrHA8QbQV7ZJPu3DK49w71dC5pkAf0VUwcIyWdVe08MFHU9Fo4xU1o6z39WNQsTqaaOZwe51ZU9rnGzG8gBxUjBJW0mNzQTODhN1H+9fUHzVNjkTKbE5o2OBAdccr9i3zSZYMzR3Itx9/ml0MeafK432vfn+PRNyTGR1zYdwAsAuc6jbxLnSwyXTQR2UjOlzqNnS7xGdTkTs0uWNx5KZ9F8eeoxOrPa4NH/vJUuITZaWQ37FqvovhyYE6UjWV5ddOcIGZznJRipytaFskhKVNVUzaenkmf1Y2lx8ALp6TYXSO11gdrKrpONStBu2ECMeWp9T6KnukkkdK90rz7b3FzvE6lIuFqZTLK5/JXa08WlE1nC6uglc3RdU3V1lqMFdngLfeYR6LNyezI4c1fYA/wBlipK9uStmba1nlOK/zU0L/RKaHy1ErPVNXRdc3RdJ7psurouDxXKdhgmnNoYnvP5W3XoAk2C8uIA3VvgU1HbcSYe6eZ18r22cR5HRLWMw+R5bJU1DC09UwN0+BUOghmpsQiEsxpCTrIexacw4vJrFJRVcfY54aSfRNadpliyubuPT7EJTO4Ry5mu6+v3BCpIHUNO8SR4hNnaLMO4vl8NVBrDR3LopJ5ZSbkvaAP3utLJHi8bHONNh7La3DWgrMT1kjqt0tRDE+QaEZbD4DivFS0MaGkW9j917pnGRxcDf3H2VphkENVhtVLVU8cTI2+xM0ZTfu5qhvzT1ViFRVNayV5yN6rGizR4AKOsk8rXgBvbvytkETmFxd37cLq6LrlCz3Wiyr8cky0jgDqdF6dsVB0fZ6mZaxLQfReWYxeWanhHF7wF7Jg8Qhw6FgFgG6Lp8GbaEu5XOYw68ob6KZdUO2lVuMGdGOtO4R8ezifQK9JWG25qt7iUVO06QsufF39ALXiM2lTOPc7LJQRatQ0e6zd9eSLotrZFlxd12GyLouiyLdyFKvcDNo4z+YqBjQy4jNzddTsIGWKHmSoWOf7jL4pzVf4ESTUp/v5FAui6LISZOEoPcrbDccmoaZ1PuYpIXXzBw4+aqACSFpMSwuOPCsPhggBq59c3adL/MLXStk8z4zayyVTovKyQXuuGOwirAcYGROP4WVBb6OFk6zDaE6xyVTf0Sxn5qtl2fxKKEymC7Wi5yuBIUOWjqoqdlRJE4QP6rzwKvMj2/mR/ss4jY78uX91fuwiF/F9c4cwz/AOk07CKWLV7ZP+6oYwelyqTo1VuWzbl+7cbNfl0KWShrGR7x1NKGcS4sK86rTvpf99F60XDbV/76p3ERCJfsXxOvxEQOUeZ4+Kh3snJaaeKNskkTmtdqHEaFNLFISXXIstsYAbYG66ukukSHhfsXhWKFCzpO0lHEdQ12Y+S9npG5aaIdzAvIdl4+kbSvfx3bD66L2NosLLs8NZlpmrkMRfmqHJHEAEngAvL8SnNZX1FRxEkhLb93Aellv9oak0uEVDwbOc3I3xOi87DdNOCVY7N+GIfNb8Hjtmk9k3lRlTmVFlzt09um7IypzKuooy+RrBxcbKQVBdYXVvh7MvR29oaCVV4kd5XTO/MrmnIEj3/haP2VFIc73OPaSU6xQ6cMUPASjDvPNJJ6pmyLLuyLJLdObpyggNRVwxD8bwPVbDFqFtdXkPkdHT0cILsgu4k62HkqHBKqioXGqqA+SZn3bBw8bptmNVsdVNURSZXSm7hxCaU8sMMNpN8x6D0590sqGTTS3ZtlG3v/AAr7CTS09BXVVMyoa1rCPtjfMVxTUz8S2Zip2C7hNYctf4Ko6jG66ogkgmlDo5OIslw/G6qgpnwQZMriTcjUeCuFdCXBp/DYg7cnhUmjmALh+K4P0V1XRz1NZBhuGvEbKNuZ0hOgI7VLwV53sxfihrAxhL2lpsPMrM4Vi0uHzSSBol3gs8O7VLG0Ajhnip6GGFsrSPYvf49q9xVsObUcbHfbf29F5kpJrZALjnb367qlqpHySuGY5MxIbfQJmy7IuUWSRzsxunTfKLJuy5l9mNx5J2yYrjlpnnkpZuQFLnWBKm/R5BvMRnmPbI1v/vgvVAvPfo2g+xY8jV73OXoa72BuWJrfRcTM7PIXLKbaVFzTUrT3yOHoPmsuBorPaCYz4zVa3EbhGOVgPmSq+y4rE5jJVPPG30XS0LNOBo53XFkmVOZUWWC613TdlKoGWe6UjRg0PMpiysI48rGQjrE3Pit+Gwa1QAeg3Kx10+nCbdSlmfuaF3vSGyq8qm4i/PII29Vgt5qLZecQqdeoc4dOgU0MelCAepTZCLLuyLLFdbLqbTw4a6Fu/lkbIeNm3H7p3oeGO4Vjh4s/tVtkWWgVDQLFg/VUGJxNw8/orL6tondSvZ/k1w+ST6oiPVroD4uI+SrreKNewleteLuwfUqNOTs//wAVh9SPJ9iop3f9oXLsDqQCQWEDtEjT81CzO94pd5IODjbxRqQH4D9UZZv9h9E0+MseQbaaaJLLs6m6SyzkrQCbbriyr8YdlpXDtKs7Koxy53cY4ucB6rRSNzzNHqqqh+WJx9FvNgYN1RQ6HSIH4rXqh2UiEdO4D8LWt9FfLvgLCy48rznHG9H2krYnjKJS2VhPaCBf1BTOVaXbTApcTp46uhH+upr5Be28aeLf4/tYemxdjHGKsa6KVps4PFrFcbi1E+OcvaNjuuhoalr4w09QrOySybZWU7hpK3VONlicfZe34pPldwtucJ2njGbO7qt9SpQfkY+Z3WOjfFcho9mNvAak8+9N1EgeQ1pBY3hqnZPgaO3xyfoEsv4qov8AC1RjqbniUlk5ZFkjumoKbyosnLJLIupum7IsnLIsi6LpuySycsiyLoum7IsnMqLIupum7Isu7Ispui6bsqWZwqcepYG62fmI5BWGK1sdFTuLnDNZVexlPLXYlNiswO7F4oeZ/Efl8U5wenc+YPPQJfiEwbEW9yvW8AZlpCfecrRQsIZkoYx36qauyXOpDwVViuz2G4qc1XTtL7WzjR39q2QvD2NeLOF1IcW7hZKXYDB3D7NsrT3iQqMfo+pWuDoqqdpBvYv0/ZbZCp8HAfhC960nKy2JbMyVdKYYag05LgS9ljp3aqil2GxSP7nEs/6ox/K9Fslsomo4Zjd4UsnkjFmleXv2W2hi6srH24aFR5MK2kgF3xsI8SB6her2RZZXYRTHsrhWzDuvInDHI+tStd+mQFc9MxRnXoJfJt1666ON/XY13iLpmTD6OTrU0Xk2yqdglOeisGISheTnFqhn3lFO0f8AGUfX0Q68T2272lenyYLQv4RFv6XKNLs3Sv6r3DxF1Q7AYz0K9jEpO4XnrcdpT22TrcYo3fjA8SthLslE4m26cPzMH8KBPsZGdRSwu8AP6VLv6f4crBiZ7hUTcRpXcJAnBV07uErVLm2OiHGit4A/yoUuysDfwSM8HkfuqXYBJ2K9jE28IkraaNpLpWqpxDaKCIFsHtO5KW/ZOFztZJLd17qRR7NUVOb7jeO96TX0Uw4I7N5lLsRbbZZijwutx+cS1RdFSX1dwLuTf5XoOCYc0GKnpowyJgDWtA0aApNBhU07hlbZvC5GgWooKKKiiys1d2u710lPTsgbZqVSzOlNyn4oxHG1jdA0ABdoQr1UhCEIQhCEIQhCEIQhCEIQhCEIQhCEIQhCEIQkSEA8QD4oQhCafSwP60LD/iEjKOmZ1YWDyuhCEJ8C1kqEIQhCEIQv/9k="/>
          <p:cNvSpPr>
            <a:spLocks noChangeAspect="1" noChangeArrowheads="1"/>
          </p:cNvSpPr>
          <p:nvPr/>
        </p:nvSpPr>
        <p:spPr bwMode="auto">
          <a:xfrm>
            <a:off x="112713" y="-652463"/>
            <a:ext cx="1524000" cy="12858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21510" name="AutoShape 6" descr="data:image/jpg;base64,/9j/4AAQSkZJRgABAQAAAQABAAD/2wBDAAkGBwgHBgkIBwgKCgkLDRYPDQwMDRsUFRAWIB0iIiAdHx8kKDQsJCYxJx8fLT0tMTU3Ojo6Iys/RD84QzQ5Ojf/2wBDAQoKCg0MDRoPDxo3JR8lNzc3Nzc3Nzc3Nzc3Nzc3Nzc3Nzc3Nzc3Nzc3Nzc3Nzc3Nzc3Nzc3Nzc3Nzc3Nzc3Nzf/wAARCACUALADASIAAhEBAxEB/8QAGwAAAQUBAQAAAAAAAAAAAAAAAAEDBAUGAgf/xAA8EAABAwIDBAcECgEFAQAAAAABAAIDBBEFEiEGEzFhFDJBUXGBoSJSkcEHFSMzQmJysdHhgiQ1c4Pw0v/EABoBAAIDAQEAAAAAAAAAAAAAAAAFAQMEBgL/xAAzEQABAwIFAgQEBQUBAAAAAAABAAIDBBEFEhMhUTFBFCJhgUJxkdEyM6HB4QYkNFLwsf/aAAwDAQACEQMRAD8A9xQhCEISJUzVTsp4HSyHQepUE2FypAubBdSysiaXSOACgSYlf7ttvFU1RWyTyFzz26DuTe+5pXLWkmzUwjorC7lbmukJ65TcuIujsC5xc46BVom56JITqamTt0YCvUMpdd7jsFEsYbZoG5V06uflFiQbarjpsvvn4qp32qXfql1U4m91a2lAFrK26dL76Xp0vv8Aoqjf80b/AJo8S7lT4ZvCt+nS+96LoV8nf6Kn3/NG/wCaPEu5UeGbwrjp8vePgjp8nePgqff80u/Pep8U7lHhm8K46fJy+CX6wf3D4KnE3NG+5o8U7lR4ZvCuPrB/aB8F0MQPa0FUu/5pd9zUiqdyoNK3hX8NdDI4NLsrzoAe3wUoG6yckgkYWuOh7FP2cxc1L5qCodeop2hwceL2cL+I4HyWyCp1DY9VlmpzHuOivkIQtazIWc2nqvtIqZvYM7v2HzWjPBYLE6rpGITy5rjNlb4DQftfzWDEJckVuVtoIs8t+EB+iM6i50udINRPcimxtL7NHFxTlbIBJuhwZp5rrDW3dmdwa26rpJS97nE6k3TCd2lTsZzusEDdSdzj22UjOjPzUbPzRnWDUW7IpOdLnUXec0bzmjURkUrOjOo2fmjOjUUZFJz80offhrZRs5uB3qxii6HRyT1XsvkbkiYeOvarY7vVchDFHz80Zz3qNvNSjeLxqL3kUnPzRvD3qPnRn5o1FORSd5pxUHBJHnbql3brDcytfzaRe3xAPknC/TimNiQana+ea1xFCfK+i20BzTBYq0ZYivSkISFPkkUPFavoeHVE99WsOX9XAetl54HdhJNlqNuKvd0kFM0i8j8zvAf2QsdnK5vF57zBg7LocJgtEX8qVvEB+qjZ0Z0pzppkWmpfZop3DsjVFnCvKM58PnHfGT6LNl+qa4k6wj+SWYc25k+ak50Z1G3iM6V50zyKTnS51Gzo3iM6jIpOdSKGnkrahkMNszu08AO9VwffgrHA8QbQV7ZJPu3DK49w71dC5pkAf0VUwcIyWdVe08MFHU9Fo4xU1o6z39WNQsTqaaOZwe51ZU9rnGzG8gBxUjBJW0mNzQTODhN1H+9fUHzVNjkTKbE5o2OBAdccr9i3zSZYMzR3Itx9/ml0MeafK432vfn+PRNyTGR1zYdwAsAuc6jbxLnSwyXTQR2UjOlzqNnS7xGdTkTs0uWNx5KZ9F8eeoxOrPa4NH/vJUuITZaWQ37FqvovhyYE6UjWV5ddOcIGZznJRipytaFskhKVNVUzaenkmf1Y2lx8ALp6TYXSO11gdrKrpONStBu2ECMeWp9T6KnukkkdK90rz7b3FzvE6lIuFqZTLK5/JXa08WlE1nC6uglc3RdU3V1lqMFdngLfeYR6LNyezI4c1fYA/wBlipK9uStmba1nlOK/zU0L/RKaHy1ErPVNXRdc3RdJ7psurouDxXKdhgmnNoYnvP5W3XoAk2C8uIA3VvgU1HbcSYe6eZ18r22cR5HRLWMw+R5bJU1DC09UwN0+BUOghmpsQiEsxpCTrIexacw4vJrFJRVcfY54aSfRNadpliyubuPT7EJTO4Ry5mu6+v3BCpIHUNO8SR4hNnaLMO4vl8NVBrDR3LopJ5ZSbkvaAP3utLJHi8bHONNh7La3DWgrMT1kjqt0tRDE+QaEZbD4DivFS0MaGkW9j917pnGRxcDf3H2VphkENVhtVLVU8cTI2+xM0ZTfu5qhvzT1ViFRVNayV5yN6rGizR4AKOsk8rXgBvbvytkETmFxd37cLq6LrlCz3Wiyr8cky0jgDqdF6dsVB0fZ6mZaxLQfReWYxeWanhHF7wF7Jg8Qhw6FgFgG6Lp8GbaEu5XOYw68ob6KZdUO2lVuMGdGOtO4R8ezifQK9JWG25qt7iUVO06QsufF39ALXiM2lTOPc7LJQRatQ0e6zd9eSLotrZFlxd12GyLouiyLdyFKvcDNo4z+YqBjQy4jNzddTsIGWKHmSoWOf7jL4pzVf4ESTUp/v5FAui6LISZOEoPcrbDccmoaZ1PuYpIXXzBw4+aqACSFpMSwuOPCsPhggBq59c3adL/MLXStk8z4zayyVTovKyQXuuGOwirAcYGROP4WVBb6OFk6zDaE6xyVTf0Sxn5qtl2fxKKEymC7Wi5yuBIUOWjqoqdlRJE4QP6rzwKvMj2/mR/ss4jY78uX91fuwiF/F9c4cwz/AOk07CKWLV7ZP+6oYwelyqTo1VuWzbl+7cbNfl0KWShrGR7x1NKGcS4sK86rTvpf99F60XDbV/76p3ERCJfsXxOvxEQOUeZ4+Kh3snJaaeKNskkTmtdqHEaFNLFISXXIstsYAbYG66ukukSHhfsXhWKFCzpO0lHEdQ12Y+S9npG5aaIdzAvIdl4+kbSvfx3bD66L2NosLLs8NZlpmrkMRfmqHJHEAEngAvL8SnNZX1FRxEkhLb93Aellv9oak0uEVDwbOc3I3xOi87DdNOCVY7N+GIfNb8Hjtmk9k3lRlTmVFlzt09um7IypzKuooy+RrBxcbKQVBdYXVvh7MvR29oaCVV4kd5XTO/MrmnIEj3/haP2VFIc73OPaSU6xQ6cMUPASjDvPNJJ6pmyLLuyLJLdObpyggNRVwxD8bwPVbDFqFtdXkPkdHT0cILsgu4k62HkqHBKqioXGqqA+SZn3bBw8bptmNVsdVNURSZXSm7hxCaU8sMMNpN8x6D0590sqGTTS3ZtlG3v/AAr7CTS09BXVVMyoa1rCPtjfMVxTUz8S2Zip2C7hNYctf4Ko6jG66ogkgmlDo5OIslw/G6qgpnwQZMriTcjUeCuFdCXBp/DYg7cnhUmjmALh+K4P0V1XRz1NZBhuGvEbKNuZ0hOgI7VLwV53sxfihrAxhL2lpsPMrM4Vi0uHzSSBol3gs8O7VLG0Ajhnip6GGFsrSPYvf49q9xVsObUcbHfbf29F5kpJrZALjnb367qlqpHySuGY5MxIbfQJmy7IuUWSRzsxunTfKLJuy5l9mNx5J2yYrjlpnnkpZuQFLnWBKm/R5BvMRnmPbI1v/vgvVAvPfo2g+xY8jV73OXoa72BuWJrfRcTM7PIXLKbaVFzTUrT3yOHoPmsuBorPaCYz4zVa3EbhGOVgPmSq+y4rE5jJVPPG30XS0LNOBo53XFkmVOZUWWC613TdlKoGWe6UjRg0PMpiysI48rGQjrE3Pit+Gwa1QAeg3Kx10+nCbdSlmfuaF3vSGyq8qm4i/PII29Vgt5qLZecQqdeoc4dOgU0MelCAepTZCLLuyLLFdbLqbTw4a6Fu/lkbIeNm3H7p3oeGO4Vjh4s/tVtkWWgVDQLFg/VUGJxNw8/orL6tondSvZ/k1w+ST6oiPVroD4uI+SrreKNewleteLuwfUqNOTs//wAVh9SPJ9iop3f9oXLsDqQCQWEDtEjT81CzO94pd5IODjbxRqQH4D9UZZv9h9E0+MseQbaaaJLLs6m6SyzkrQCbbriyr8YdlpXDtKs7Koxy53cY4ucB6rRSNzzNHqqqh+WJx9FvNgYN1RQ6HSIH4rXqh2UiEdO4D8LWt9FfLvgLCy48rznHG9H2krYnjKJS2VhPaCBf1BTOVaXbTApcTp46uhH+upr5Be28aeLf4/tYemxdjHGKsa6KVps4PFrFcbi1E+OcvaNjuuhoalr4w09QrOySybZWU7hpK3VONlicfZe34pPldwtucJ2njGbO7qt9SpQfkY+Z3WOjfFcho9mNvAak8+9N1EgeQ1pBY3hqnZPgaO3xyfoEsv4qov8AC1RjqbniUlk5ZFkjumoKbyosnLJLIupum7IsnLIsi6LpuySycsiyLoum7IsnMqLIupum7Isu7Ispui6bsqWZwqcepYG62fmI5BWGK1sdFTuLnDNZVexlPLXYlNiswO7F4oeZ/Efl8U5wenc+YPPQJfiEwbEW9yvW8AZlpCfecrRQsIZkoYx36qauyXOpDwVViuz2G4qc1XTtL7WzjR39q2QvD2NeLOF1IcW7hZKXYDB3D7NsrT3iQqMfo+pWuDoqqdpBvYv0/ZbZCp8HAfhC960nKy2JbMyVdKYYag05LgS9ljp3aqil2GxSP7nEs/6ox/K9Fslsomo4Zjd4UsnkjFmleXv2W2hi6srH24aFR5MK2kgF3xsI8SB6her2RZZXYRTHsrhWzDuvInDHI+tStd+mQFc9MxRnXoJfJt1666ON/XY13iLpmTD6OTrU0Xk2yqdglOeisGISheTnFqhn3lFO0f8AGUfX0Q68T2272lenyYLQv4RFv6XKNLs3Sv6r3DxF1Q7AYz0K9jEpO4XnrcdpT22TrcYo3fjA8SthLslE4m26cPzMH8KBPsZGdRSwu8AP6VLv6f4crBiZ7hUTcRpXcJAnBV07uErVLm2OiHGit4A/yoUuysDfwSM8HkfuqXYBJ2K9jE28IkraaNpLpWqpxDaKCIFsHtO5KW/ZOFztZJLd17qRR7NUVOb7jeO96TX0Uw4I7N5lLsRbbZZijwutx+cS1RdFSX1dwLuTf5XoOCYc0GKnpowyJgDWtA0aApNBhU07hlbZvC5GgWooKKKiiys1d2u710lPTsgbZqVSzOlNyn4oxHG1jdA0ABdoQr1UhCEIQhCEIQhCEIQhCEIQhCEIQhCEIQhCEIQkSEA8QD4oQhCafSwP60LD/iEjKOmZ1YWDyuhCEJ8C1kqEIQhCEIQv/9k="/>
          <p:cNvSpPr>
            <a:spLocks noChangeAspect="1" noChangeArrowheads="1"/>
          </p:cNvSpPr>
          <p:nvPr/>
        </p:nvSpPr>
        <p:spPr bwMode="auto">
          <a:xfrm>
            <a:off x="112713" y="-652463"/>
            <a:ext cx="1524000" cy="12858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21512" name="AutoShape 8" descr="data:image/jpg;base64,/9j/4AAQSkZJRgABAQAAAQABAAD/2wBDAAkGBwgHBgkIBwgKCgkLDRYPDQwMDRsUFRAWIB0iIiAdHx8kKDQsJCYxJx8fLT0tMTU3Ojo6Iys/RD84QzQ5Ojf/2wBDAQoKCg0MDRoPDxo3JR8lNzc3Nzc3Nzc3Nzc3Nzc3Nzc3Nzc3Nzc3Nzc3Nzc3Nzc3Nzc3Nzc3Nzc3Nzc3Nzc3Nzf/wAARCACUALADASIAAhEBAxEB/8QAGwAAAQUBAQAAAAAAAAAAAAAAAAEDBAUGAgf/xAA8EAABAwIDBAcECgEFAQAAAAABAAIDBBEFEiEGEzFhFDJBUXGBoSJSkcEHFSMzQmJysdHhgiQ1c4Pw0v/EABoBAAIDAQEAAAAAAAAAAAAAAAAFAQMEBgL/xAAzEQABAwIFAgQEBQUBAAAAAAABAAIDBBEFEhMhUTFBFCJhgUJxkdEyM6HB4QYkNFLwsf/aAAwDAQACEQMRAD8A9xQhCEISJUzVTsp4HSyHQepUE2FypAubBdSysiaXSOACgSYlf7ttvFU1RWyTyFzz26DuTe+5pXLWkmzUwjorC7lbmukJ65TcuIujsC5xc46BVom56JITqamTt0YCvUMpdd7jsFEsYbZoG5V06uflFiQbarjpsvvn4qp32qXfql1U4m91a2lAFrK26dL76Xp0vv8Aoqjf80b/AJo8S7lT4ZvCt+nS+96LoV8nf6Kn3/NG/wCaPEu5UeGbwrjp8vePgjp8nePgqff80u/Pep8U7lHhm8K46fJy+CX6wf3D4KnE3NG+5o8U7lR4ZvCuPrB/aB8F0MQPa0FUu/5pd9zUiqdyoNK3hX8NdDI4NLsrzoAe3wUoG6yckgkYWuOh7FP2cxc1L5qCodeop2hwceL2cL+I4HyWyCp1DY9VlmpzHuOivkIQtazIWc2nqvtIqZvYM7v2HzWjPBYLE6rpGITy5rjNlb4DQftfzWDEJckVuVtoIs8t+EB+iM6i50udINRPcimxtL7NHFxTlbIBJuhwZp5rrDW3dmdwa26rpJS97nE6k3TCd2lTsZzusEDdSdzj22UjOjPzUbPzRnWDUW7IpOdLnUXec0bzmjURkUrOjOo2fmjOjUUZFJz80offhrZRs5uB3qxii6HRyT1XsvkbkiYeOvarY7vVchDFHz80Zz3qNvNSjeLxqL3kUnPzRvD3qPnRn5o1FORSd5pxUHBJHnbql3brDcytfzaRe3xAPknC/TimNiQana+ea1xFCfK+i20BzTBYq0ZYivSkISFPkkUPFavoeHVE99WsOX9XAetl54HdhJNlqNuKvd0kFM0i8j8zvAf2QsdnK5vF57zBg7LocJgtEX8qVvEB+qjZ0Z0pzppkWmpfZop3DsjVFnCvKM58PnHfGT6LNl+qa4k6wj+SWYc25k+ak50Z1G3iM6V50zyKTnS51Gzo3iM6jIpOdSKGnkrahkMNszu08AO9VwffgrHA8QbQV7ZJPu3DK49w71dC5pkAf0VUwcIyWdVe08MFHU9Fo4xU1o6z39WNQsTqaaOZwe51ZU9rnGzG8gBxUjBJW0mNzQTODhN1H+9fUHzVNjkTKbE5o2OBAdccr9i3zSZYMzR3Itx9/ml0MeafK432vfn+PRNyTGR1zYdwAsAuc6jbxLnSwyXTQR2UjOlzqNnS7xGdTkTs0uWNx5KZ9F8eeoxOrPa4NH/vJUuITZaWQ37FqvovhyYE6UjWV5ddOcIGZznJRipytaFskhKVNVUzaenkmf1Y2lx8ALp6TYXSO11gdrKrpONStBu2ECMeWp9T6KnukkkdK90rz7b3FzvE6lIuFqZTLK5/JXa08WlE1nC6uglc3RdU3V1lqMFdngLfeYR6LNyezI4c1fYA/wBlipK9uStmba1nlOK/zU0L/RKaHy1ErPVNXRdc3RdJ7psurouDxXKdhgmnNoYnvP5W3XoAk2C8uIA3VvgU1HbcSYe6eZ18r22cR5HRLWMw+R5bJU1DC09UwN0+BUOghmpsQiEsxpCTrIexacw4vJrFJRVcfY54aSfRNadpliyubuPT7EJTO4Ry5mu6+v3BCpIHUNO8SR4hNnaLMO4vl8NVBrDR3LopJ5ZSbkvaAP3utLJHi8bHONNh7La3DWgrMT1kjqt0tRDE+QaEZbD4DivFS0MaGkW9j917pnGRxcDf3H2VphkENVhtVLVU8cTI2+xM0ZTfu5qhvzT1ViFRVNayV5yN6rGizR4AKOsk8rXgBvbvytkETmFxd37cLq6LrlCz3Wiyr8cky0jgDqdF6dsVB0fZ6mZaxLQfReWYxeWanhHF7wF7Jg8Qhw6FgFgG6Lp8GbaEu5XOYw68ob6KZdUO2lVuMGdGOtO4R8ezifQK9JWG25qt7iUVO06QsufF39ALXiM2lTOPc7LJQRatQ0e6zd9eSLotrZFlxd12GyLouiyLdyFKvcDNo4z+YqBjQy4jNzddTsIGWKHmSoWOf7jL4pzVf4ESTUp/v5FAui6LISZOEoPcrbDccmoaZ1PuYpIXXzBw4+aqACSFpMSwuOPCsPhggBq59c3adL/MLXStk8z4zayyVTovKyQXuuGOwirAcYGROP4WVBb6OFk6zDaE6xyVTf0Sxn5qtl2fxKKEymC7Wi5yuBIUOWjqoqdlRJE4QP6rzwKvMj2/mR/ss4jY78uX91fuwiF/F9c4cwz/AOk07CKWLV7ZP+6oYwelyqTo1VuWzbl+7cbNfl0KWShrGR7x1NKGcS4sK86rTvpf99F60XDbV/76p3ERCJfsXxOvxEQOUeZ4+Kh3snJaaeKNskkTmtdqHEaFNLFISXXIstsYAbYG66ukukSHhfsXhWKFCzpO0lHEdQ12Y+S9npG5aaIdzAvIdl4+kbSvfx3bD66L2NosLLs8NZlpmrkMRfmqHJHEAEngAvL8SnNZX1FRxEkhLb93Aellv9oak0uEVDwbOc3I3xOi87DdNOCVY7N+GIfNb8Hjtmk9k3lRlTmVFlzt09um7IypzKuooy+RrBxcbKQVBdYXVvh7MvR29oaCVV4kd5XTO/MrmnIEj3/haP2VFIc73OPaSU6xQ6cMUPASjDvPNJJ6pmyLLuyLJLdObpyggNRVwxD8bwPVbDFqFtdXkPkdHT0cILsgu4k62HkqHBKqioXGqqA+SZn3bBw8bptmNVsdVNURSZXSm7hxCaU8sMMNpN8x6D0590sqGTTS3ZtlG3v/AAr7CTS09BXVVMyoa1rCPtjfMVxTUz8S2Zip2C7hNYctf4Ko6jG66ogkgmlDo5OIslw/G6qgpnwQZMriTcjUeCuFdCXBp/DYg7cnhUmjmALh+K4P0V1XRz1NZBhuGvEbKNuZ0hOgI7VLwV53sxfihrAxhL2lpsPMrM4Vi0uHzSSBol3gs8O7VLG0Ajhnip6GGFsrSPYvf49q9xVsObUcbHfbf29F5kpJrZALjnb367qlqpHySuGY5MxIbfQJmy7IuUWSRzsxunTfKLJuy5l9mNx5J2yYrjlpnnkpZuQFLnWBKm/R5BvMRnmPbI1v/vgvVAvPfo2g+xY8jV73OXoa72BuWJrfRcTM7PIXLKbaVFzTUrT3yOHoPmsuBorPaCYz4zVa3EbhGOVgPmSq+y4rE5jJVPPG30XS0LNOBo53XFkmVOZUWWC613TdlKoGWe6UjRg0PMpiysI48rGQjrE3Pit+Gwa1QAeg3Kx10+nCbdSlmfuaF3vSGyq8qm4i/PII29Vgt5qLZecQqdeoc4dOgU0MelCAepTZCLLuyLLFdbLqbTw4a6Fu/lkbIeNm3H7p3oeGO4Vjh4s/tVtkWWgVDQLFg/VUGJxNw8/orL6tondSvZ/k1w+ST6oiPVroD4uI+SrreKNewleteLuwfUqNOTs//wAVh9SPJ9iop3f9oXLsDqQCQWEDtEjT81CzO94pd5IODjbxRqQH4D9UZZv9h9E0+MseQbaaaJLLs6m6SyzkrQCbbriyr8YdlpXDtKs7Koxy53cY4ucB6rRSNzzNHqqqh+WJx9FvNgYN1RQ6HSIH4rXqh2UiEdO4D8LWt9FfLvgLCy48rznHG9H2krYnjKJS2VhPaCBf1BTOVaXbTApcTp46uhH+upr5Be28aeLf4/tYemxdjHGKsa6KVps4PFrFcbi1E+OcvaNjuuhoalr4w09QrOySybZWU7hpK3VONlicfZe34pPldwtucJ2njGbO7qt9SpQfkY+Z3WOjfFcho9mNvAak8+9N1EgeQ1pBY3hqnZPgaO3xyfoEsv4qov8AC1RjqbniUlk5ZFkjumoKbyosnLJLIupum7IsnLIsi6LpuySycsiyLoum7IsnMqLIupum7Isu7Ispui6bsqWZwqcepYG62fmI5BWGK1sdFTuLnDNZVexlPLXYlNiswO7F4oeZ/Efl8U5wenc+YPPQJfiEwbEW9yvW8AZlpCfecrRQsIZkoYx36qauyXOpDwVViuz2G4qc1XTtL7WzjR39q2QvD2NeLOF1IcW7hZKXYDB3D7NsrT3iQqMfo+pWuDoqqdpBvYv0/ZbZCp8HAfhC960nKy2JbMyVdKYYag05LgS9ljp3aqil2GxSP7nEs/6ox/K9Fslsomo4Zjd4UsnkjFmleXv2W2hi6srH24aFR5MK2kgF3xsI8SB6her2RZZXYRTHsrhWzDuvInDHI+tStd+mQFc9MxRnXoJfJt1666ON/XY13iLpmTD6OTrU0Xk2yqdglOeisGISheTnFqhn3lFO0f8AGUfX0Q68T2272lenyYLQv4RFv6XKNLs3Sv6r3DxF1Q7AYz0K9jEpO4XnrcdpT22TrcYo3fjA8SthLslE4m26cPzMH8KBPsZGdRSwu8AP6VLv6f4crBiZ7hUTcRpXcJAnBV07uErVLm2OiHGit4A/yoUuysDfwSM8HkfuqXYBJ2K9jE28IkraaNpLpWqpxDaKCIFsHtO5KW/ZOFztZJLd17qRR7NUVOb7jeO96TX0Uw4I7N5lLsRbbZZijwutx+cS1RdFSX1dwLuTf5XoOCYc0GKnpowyJgDWtA0aApNBhU07hlbZvC5GgWooKKKiiys1d2u710lPTsgbZqVSzOlNyn4oxHG1jdA0ABdoQr1UhCEIQhCEIQhCEIQhCEIQhCEIQhCEIQhCEIQkSEA8QD4oQhCafSwP60LD/iEjKOmZ1YWDyuhCEJ8C1kqEIQhCEIQv/9k="/>
          <p:cNvSpPr>
            <a:spLocks noChangeAspect="1" noChangeArrowheads="1"/>
          </p:cNvSpPr>
          <p:nvPr/>
        </p:nvSpPr>
        <p:spPr bwMode="auto">
          <a:xfrm>
            <a:off x="112713" y="-652463"/>
            <a:ext cx="1524000" cy="12858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pic>
        <p:nvPicPr>
          <p:cNvPr id="13" name="รูปภาพ 12">
            <a:extLst>
              <a:ext uri="{FF2B5EF4-FFF2-40B4-BE49-F238E27FC236}">
                <a16:creationId xmlns:a16="http://schemas.microsoft.com/office/drawing/2014/main" id="{9D8B610F-5D41-4DE0-9ACC-FA7653399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919183"/>
            <a:ext cx="4464496" cy="3750177"/>
          </a:xfrm>
          <a:prstGeom prst="rect">
            <a:avLst/>
          </a:prstGeom>
        </p:spPr>
      </p:pic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FAA57BB3-4EB8-BA5B-C463-855981626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3203596"/>
            <a:ext cx="3171825" cy="3181350"/>
          </a:xfrm>
          <a:prstGeom prst="rect">
            <a:avLst/>
          </a:prstGeom>
        </p:spPr>
      </p:pic>
      <p:pic>
        <p:nvPicPr>
          <p:cNvPr id="6" name="รูปภาพ 5">
            <a:extLst>
              <a:ext uri="{FF2B5EF4-FFF2-40B4-BE49-F238E27FC236}">
                <a16:creationId xmlns:a16="http://schemas.microsoft.com/office/drawing/2014/main" id="{1BABE2AA-5D0A-BC45-61E1-7BF262279E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221" y="473054"/>
            <a:ext cx="2304256" cy="24942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3DB9F80-A707-C85E-EA5C-EA7CDB680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โครงสร้างข้อมูล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และขั้นตอนวิธี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คืออะไร</a:t>
            </a:r>
            <a:endParaRPr lang="th-TH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EBA70B0-A0EE-8762-7352-821C363A9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thaiDist">
              <a:buNone/>
            </a:pPr>
            <a:r>
              <a:rPr lang="th-TH" dirty="0"/>
              <a:t>	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</a:rPr>
              <a:t>โครงสร้างข้อมูล</a:t>
            </a:r>
            <a:r>
              <a:rPr lang="th-TH" dirty="0">
                <a:latin typeface="Angsana New" pitchFamily="18" charset="-34"/>
              </a:rPr>
              <a:t>และขั้นตอนวิธี เป็นองค์ประกอบของโปรแกรมคอมพิวเตอร์ ที่ใช้สำหรับในการเขียนโปรแกรมภาษาคอมพิวเตอร์ ที่ใช้ในการจัดรูปแบบการเก็บข้อมูล รวมไปถึงขั้นตอนวิธีที่ใช้ในการทำงานของโปรแกรมภาษาคอมพิวเตอร์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612008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8BCFFAE-4444-465C-980B-B0FA4BB5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F0772325-C682-4394-AB95-D4AC4669F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Google </a:t>
            </a:r>
            <a:r>
              <a:rPr lang="th-TH" dirty="0"/>
              <a:t>มีวิธีการเก็บเอกสารอย่างไร ทำให้ค้นข้อมูลได้อย่างรวดเร็ว</a:t>
            </a:r>
            <a:endParaRPr lang="en-US" dirty="0"/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E681D39E-3574-4CF3-929C-A309AB7A7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27" y="2230294"/>
            <a:ext cx="7924999" cy="407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51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6C49F8E-38F9-46C9-8055-6F23621C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Microsoft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5B2453B6-9622-414D-BE00-3F7A890E6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th-TH" dirty="0"/>
              <a:t>ในการเก็บตัวอักษร คำ ข้อความ ย่อหน้า สูตร</a:t>
            </a:r>
            <a:r>
              <a:rPr lang="en-US" dirty="0"/>
              <a:t> </a:t>
            </a:r>
            <a:r>
              <a:rPr lang="th-TH" dirty="0" err="1"/>
              <a:t>ฟั</a:t>
            </a:r>
            <a:r>
              <a:rPr lang="th-TH" dirty="0"/>
              <a:t>งก</a:t>
            </a:r>
            <a:r>
              <a:rPr lang="th-TH" dirty="0" err="1"/>
              <a:t>์ชั่น</a:t>
            </a:r>
            <a:r>
              <a:rPr lang="th-TH" dirty="0"/>
              <a:t> รูป และอื่นๆ ในเอกสารภายในหน่วยความจำอย่างไร ขณะที่เรากำลังใช้งาน</a:t>
            </a:r>
            <a:endParaRPr lang="en-US" dirty="0"/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0EECB3F8-9EA7-42C7-AAD7-6D12A4A39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59" y="2780928"/>
            <a:ext cx="7152282" cy="3915017"/>
          </a:xfrm>
          <a:prstGeom prst="rect">
            <a:avLst/>
          </a:prstGeom>
        </p:spPr>
      </p:pic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83DF5ADF-2CA5-4CB0-AC09-F32C307675BA}"/>
              </a:ext>
            </a:extLst>
          </p:cNvPr>
          <p:cNvSpPr/>
          <p:nvPr/>
        </p:nvSpPr>
        <p:spPr>
          <a:xfrm>
            <a:off x="1547664" y="5257800"/>
            <a:ext cx="583264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</a:rPr>
              <a:t>ล้วนเป็นปัญหาที่เกี่ยวกับเรื่องโครงสร้างข้อมูลทั้งสิ้น 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15624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2539684-6DC3-4150-ACA4-5B5CF75B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/>
              <a:t>ประโยชน์ของโครงสร้างข้อมูล</a:t>
            </a:r>
            <a:endParaRPr lang="th-TH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347C3B1-1F56-41BB-8342-B05B08324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ทำให้ข้อมูลเป็นระเบียบ ตรงตามความต้องการ สะดวกและง่ายต่อการจัดเก็บข้อมูล และการนำไปใช้ตามวัตถุประสงค์ต่าง ๆ</a:t>
            </a:r>
          </a:p>
          <a:p>
            <a:pPr marL="514350" indent="-514350">
              <a:buAutoNum type="arabicPeriod"/>
            </a:pP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ทำงานรวดเร็ว และเป็นระบบ</a:t>
            </a:r>
          </a:p>
          <a:p>
            <a:pPr marL="514350" indent="-514350">
              <a:buAutoNum type="arabicPeriod"/>
            </a:pP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ประหยัดพื้นที่ในการจัดเก็บข้อมูล</a:t>
            </a:r>
          </a:p>
          <a:p>
            <a:pPr marL="514350" indent="-514350">
              <a:buAutoNum type="arabicPeriod"/>
            </a:pP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เข้าใจง่าย และมีขนาดเล็กง่ายต่อการบำรุงรักษา</a:t>
            </a:r>
          </a:p>
          <a:p>
            <a:pPr marL="514350" indent="-514350">
              <a:buAutoNum type="arabicPeriod"/>
            </a:pPr>
            <a:endParaRPr lang="th-TH" dirty="0"/>
          </a:p>
          <a:p>
            <a:endParaRPr lang="en-US" dirty="0"/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108991C7-6C1C-4409-BEA4-6C91DA68C9A9}"/>
              </a:ext>
            </a:extLst>
          </p:cNvPr>
          <p:cNvSpPr/>
          <p:nvPr/>
        </p:nvSpPr>
        <p:spPr>
          <a:xfrm>
            <a:off x="179512" y="5635992"/>
            <a:ext cx="850728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rgbClr val="FF0000"/>
                </a:solidFill>
              </a:rPr>
              <a:t>ดังนั้นเราจะมีวิธีการอย่างไรในการเขียนโปรแกรมเพื่อจัดเก็บและจัดการอย่างไร 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9401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D914732-9C70-AA99-E330-33F5AC1BD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ประเภทของโครงสร้างข้อมูลแบ่งออกเป็น 2 ประเภท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12AF7F81-9C1D-4A6E-9CAA-7CDB5BDE3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โครงสร้างข้อมูลเชิงเส้น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(Linear Data Structures)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โครงสร้างข้อมูลไม่เชิงเส้น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(Non-Linear Data Structures)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57600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43721B9-E3DC-C439-B2A8-44DF4BF3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โครงสร้างข้อมูลเชิงเส้น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(Linear Data Structures)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781BD58-F9CD-53CD-B8AB-F47C7A979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 โครงสร้างข้อมูลที่มีสมาชิกแต่ละตัวจะเชื่อมกับสมาชิกตัวถัดไปเพียงตัวเดียว และมีลำดับต่อเนื่อง ประกอบไปด้วยรูปแบบข้อมูลดังนี้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แถวลำดับ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(Array)</a:t>
            </a:r>
          </a:p>
          <a:p>
            <a:r>
              <a:rPr lang="th-TH" sz="3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สแต็ก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(Stack)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ลิงค์ลิสต์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(Linked-List)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คิว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(Queue)</a:t>
            </a:r>
            <a:endParaRPr lang="th-TH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th-TH" dirty="0"/>
          </a:p>
        </p:txBody>
      </p:sp>
      <p:pic>
        <p:nvPicPr>
          <p:cNvPr id="4" name="รูปภาพ 3" descr="รูปภาพประกอบด้วย โต๊ะ&#10;&#10;คำอธิบายที่สร้างโดยอัตโนมัติ">
            <a:extLst>
              <a:ext uri="{FF2B5EF4-FFF2-40B4-BE49-F238E27FC236}">
                <a16:creationId xmlns:a16="http://schemas.microsoft.com/office/drawing/2014/main" id="{85F4B4E3-E070-3690-CB89-EACB25A3F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827444"/>
            <a:ext cx="3754987" cy="1561992"/>
          </a:xfrm>
          <a:prstGeom prst="rect">
            <a:avLst/>
          </a:prstGeom>
        </p:spPr>
      </p:pic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91E6A4D7-B160-8566-90D9-D2D2FE736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840" y="4656244"/>
            <a:ext cx="3676172" cy="120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01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5AF23C-1C45-49B0-1BDE-8F50645C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โครงสร้างข้อมูลไม่เชิงเส้น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(Non-Linear Data Structures)</a:t>
            </a:r>
            <a:endParaRPr lang="th-TH" sz="3600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9D9C3CE0-7F4F-102E-A1C0-6DAC58EBC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thaiDist">
              <a:buNone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 โครงสร้างที่ไม่มีคุณสมบัติของเชิงเส้น สามารถใช้แสดงความสัมพันธ์ของข้อมูลที่มความซับซ้อนได้มากว่าโครงสร้างข้อมูลแบบเชิงเส้น กล่าวคือข้อมูลหนึ่งตัว มีความสัมพันธ์กับข้อมูลอื่นได้หลายตัว เช่น โครงสร้างข้อมูลแบบต้นไม้ (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Tree)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และโครงสร้างข้อมูลแบบกราฟ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(Graph)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เป็นต้น</a:t>
            </a: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435B0FE5-C542-7B8E-26F1-F11017416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168" y="4293096"/>
            <a:ext cx="3022413" cy="2015629"/>
          </a:xfrm>
          <a:prstGeom prst="rect">
            <a:avLst/>
          </a:prstGeom>
        </p:spPr>
      </p:pic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F27E2228-04B4-3AA1-B4EA-73BF915B58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4499954"/>
            <a:ext cx="2232248" cy="159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405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pPr eaLnBrk="1" hangingPunct="1"/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ขั้นตอนวิธี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(Algorithm)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16139"/>
            <a:ext cx="8362950" cy="2127241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buNone/>
            </a:pPr>
            <a:r>
              <a:rPr lang="th-TH" sz="3600" dirty="0"/>
              <a:t>		หมายถึง การบรรยายวิธีการแก้ไขปัญหาระบบงาน หรือวิธีการเขียนโปรแกรม เป็นลำดับขั้นตอนอย่างชัดเจน  และเมื่อปฏิบัติตามลำดับขั้นตอน จะทำให้ได้ผลลัพธ์ที่ถูกต้องตามต้องการ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2B1658C-F8F5-8F11-6AB1-08817C14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cs typeface="+mn-cs"/>
              </a:rPr>
              <a:t>หลักการของ</a:t>
            </a:r>
            <a:r>
              <a:rPr lang="th-TH" b="1" dirty="0">
                <a:latin typeface="Angsana New" pitchFamily="18" charset="-34"/>
                <a:cs typeface="+mn-cs"/>
              </a:rPr>
              <a:t>ขั้นตอนวิธี</a:t>
            </a:r>
            <a:r>
              <a:rPr lang="th-TH" b="1" dirty="0">
                <a:cs typeface="+mn-cs"/>
              </a:rPr>
              <a:t>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(Algorithm)</a:t>
            </a:r>
            <a:endParaRPr lang="th-TH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7C0A852-C25E-6D9A-3709-94FFC8B63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/>
              <a:t>	 คือ การแก้ปัญหาโดยการแบ่งปัญหาออกเป็นขั้นตอนที่ชัดเจนและมีลำดับ, โดยแต่ละขั้นตอนจะมีการประมวลผลข้อมูลเพื่อนำไปสู่ผลลัพธ์ที่ต้องการ. อัลกอริทึมสามารถนำไปประยุกต์ใช้ได้ทั้งในชีวิตประจำวันและการเขียนโปรแกรมคอมพิวเตอร์</a:t>
            </a:r>
          </a:p>
        </p:txBody>
      </p:sp>
    </p:spTree>
    <p:extLst>
      <p:ext uri="{BB962C8B-B14F-4D97-AF65-F5344CB8AC3E}">
        <p14:creationId xmlns:p14="http://schemas.microsoft.com/office/powerpoint/2010/main" val="3455384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242765B-E122-7F81-D2AB-E5EE5F2B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cs typeface="+mn-cs"/>
              </a:rPr>
              <a:t>หลักการสำคัญของ</a:t>
            </a:r>
            <a:r>
              <a:rPr lang="th-TH" b="1" dirty="0">
                <a:latin typeface="Angsana New" pitchFamily="18" charset="-34"/>
                <a:cs typeface="+mn-cs"/>
              </a:rPr>
              <a:t>ขั้นตอนวิธี </a:t>
            </a:r>
            <a:r>
              <a:rPr lang="en-US" b="1" dirty="0">
                <a:latin typeface="TH SarabunPSK" panose="020B0500040200020003" pitchFamily="34" charset="-34"/>
                <a:cs typeface="+mn-cs"/>
              </a:rPr>
              <a:t>(Algorithm)</a:t>
            </a:r>
            <a:endParaRPr lang="th-TH" b="1" dirty="0">
              <a:cs typeface="+mn-cs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815D0B6-654A-CC35-E9B0-C72608278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/>
          <a:lstStyle/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ขั้นตอนที่ชัดเจนและเป็นลำดับ คือ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อัลกอริทึมต้องมีขั้นตอนที่เรียงลำดับและแต่ละขั้นตอนต้องมีความชัดเจน ไม่คลุมเครือ</a:t>
            </a:r>
          </a:p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การประมวลผลข้อมูล คือ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อัลกอริทึมจะรับข้อมูลอินพุต (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input)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และประมวลผลข้อมูลเหล่านั้นโดยใช้ตรรกะที่กำหนดไว้ เพื่อให้ได้ผลลัพธ์ที่ต้องการ (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output)</a:t>
            </a:r>
          </a:p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การสิ้นสุด คือ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อัลกอริทึมต้องมีจุดสิ้นสุดที่ชัดเจน ไม่วนลูปไม่รู้จบ</a:t>
            </a:r>
          </a:p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ความสามารถในการนำไปปฏิบัติ คือ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อัลกอริทึมควรจะสามารถนำไปปฏิบัติได้จริง ไม่ว่าจะเป็นโดยมนุษย์หรือคอมพิวเตอร์</a:t>
            </a:r>
          </a:p>
          <a:p>
            <a:pPr marL="0" indent="0">
              <a:buNone/>
            </a:pP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th-TH" dirty="0"/>
          </a:p>
          <a:p>
            <a:endParaRPr lang="en-US" dirty="0"/>
          </a:p>
          <a:p>
            <a:endParaRPr lang="th-TH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695520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3A80625-6E10-70A7-6E4C-E16877551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ตัวอย่างในชีวิตประจำวัน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DE113DD8-2207-BC9D-252F-00F8429CC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thaiDist"/>
            <a:r>
              <a:rPr lang="th-TH" dirty="0"/>
              <a:t>การประกอบอาหาร คือ การประกอบอาหารแต่ละจานก็มีขั้นตอนที่ชัดเจน ซึ่งแต่ละขั้นตอนต้องทำตามลำดับที่ถูกต้องเพื่อให้ได้อาหารที่สมบูรณ์.</a:t>
            </a:r>
          </a:p>
          <a:p>
            <a:pPr algn="thaiDist"/>
            <a:r>
              <a:rPr lang="th-TH" dirty="0"/>
              <a:t>การเดินทาง คือ การเดินทางไปยังสถานที่ต่างๆ ก็ต้องมีการวางแผนและกำหนดเส้นทาง ซึ่งก็คืออัลกอริทึมอย่างหนึ่ง</a:t>
            </a:r>
          </a:p>
        </p:txBody>
      </p:sp>
    </p:spTree>
    <p:extLst>
      <p:ext uri="{BB962C8B-B14F-4D97-AF65-F5344CB8AC3E}">
        <p14:creationId xmlns:p14="http://schemas.microsoft.com/office/powerpoint/2010/main" val="1129061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88347D3-60E7-7A02-A9FC-CD0584D8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ตัวอย่างในทางคอมพิวเตอร์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B1EB5B4-636D-EFC0-18DF-6575A873E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thaiDist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การเรียงลำดับข้อมูล คือ อัลกอริทึมการเรียงลำดับ (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sorting algorithm)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จะจัดเรียงข้อมูลจากน้อยไปมาก หรือมากไปน้อย.</a:t>
            </a:r>
          </a:p>
          <a:p>
            <a:pPr algn="thaiDist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การค้นหาข้อมูล คือ อัลกอริทึมการค้นหา (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search algorithm)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จะช่วยให้เราค้นหาข้อมูลที่ต้องการได้อย่างรวดเร็ว.</a:t>
            </a:r>
          </a:p>
          <a:p>
            <a:pPr algn="thaiDist"/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การตัดสินใจ คือ อัลกอริทึมสามารถนำมาใช้ในการตัดสินใจ เช่น การเลือกว่าจะใช้เส้นทางไหนในการเดินทาง</a:t>
            </a:r>
          </a:p>
        </p:txBody>
      </p:sp>
    </p:spTree>
    <p:extLst>
      <p:ext uri="{BB962C8B-B14F-4D97-AF65-F5344CB8AC3E}">
        <p14:creationId xmlns:p14="http://schemas.microsoft.com/office/powerpoint/2010/main" val="263134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4C5BD60-A445-AA11-17A2-A246A014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ขั้นตอนการชงกาแฟ</a:t>
            </a:r>
            <a:endParaRPr lang="th-TH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B5E2735A-9FD8-0146-7D4C-87CE51BF6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จัดเตรียมส่วนผสม (กาแฟ , น้ำตาล)</a:t>
            </a:r>
          </a:p>
          <a:p>
            <a:pPr marL="514350" indent="-514350">
              <a:buFont typeface="+mj-lt"/>
              <a:buAutoNum type="arabicPeriod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ต้มน้ำให้เดือด</a:t>
            </a:r>
          </a:p>
          <a:p>
            <a:pPr marL="514350" indent="-514350">
              <a:buFont typeface="+mj-lt"/>
              <a:buAutoNum type="arabicPeriod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นำส่วนผสมใส่ลงในแก้ว</a:t>
            </a:r>
          </a:p>
          <a:p>
            <a:pPr marL="514350" indent="-514350">
              <a:buFont typeface="+mj-lt"/>
              <a:buAutoNum type="arabicPeriod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เทน้ำร้อนใส่แก้ว</a:t>
            </a:r>
          </a:p>
          <a:p>
            <a:pPr marL="514350" indent="-514350">
              <a:buFont typeface="+mj-lt"/>
              <a:buAutoNum type="arabicPeriod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ผสมให้เข้ากัน</a:t>
            </a:r>
          </a:p>
          <a:p>
            <a:pPr marL="0" indent="0">
              <a:buNone/>
            </a:pPr>
            <a:endParaRPr lang="th-TH" dirty="0"/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E526601A-14EF-6CED-D97F-D2469BEB4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492896"/>
            <a:ext cx="3937173" cy="29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46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F7A792B-8C1B-EA1E-504B-BB29CEB25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ขั้นตอนการทอดไข่เจียว</a:t>
            </a:r>
            <a:endParaRPr lang="th-TH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7D651EC3-B461-23D8-84D8-2CAE89D46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หยิบไข่ไก่</a:t>
            </a:r>
          </a:p>
          <a:p>
            <a:pPr marL="457200" indent="-4572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ตอกไข่ไก่ใส่ภาชนะ</a:t>
            </a:r>
          </a:p>
          <a:p>
            <a:pPr marL="457200" indent="-4572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ปรุงรส</a:t>
            </a:r>
          </a:p>
          <a:p>
            <a:pPr marL="457200" indent="-4572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ตีไข่</a:t>
            </a:r>
          </a:p>
          <a:p>
            <a:pPr marL="457200" indent="-4572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เปิดแก๊สและติดไฟ</a:t>
            </a:r>
          </a:p>
          <a:p>
            <a:pPr marL="457200" indent="-4572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ตั้งกระทะบนเตา</a:t>
            </a:r>
          </a:p>
          <a:p>
            <a:pPr marL="457200" indent="-4572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ใส่น้ำมันพืช</a:t>
            </a:r>
          </a:p>
          <a:p>
            <a:pPr marL="457200" indent="-4572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นำไข่ที่ปรุงรสแล้วใส่ในกระทะ</a:t>
            </a:r>
          </a:p>
          <a:p>
            <a:pPr marL="457200" indent="-4572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ทอดจนสุก</a:t>
            </a:r>
          </a:p>
          <a:p>
            <a:pPr marL="457200" indent="-4572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ตักใส่จาน</a:t>
            </a:r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11F7FF43-B382-BB19-6BB9-2EB0DFFDA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988840"/>
            <a:ext cx="4355976" cy="29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38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2E4983C-BD33-B66E-7D65-6E6927AE8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ขั้นตอนการโอนเงินที่ตู้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ATM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B89F3A08-9321-B55A-0ACD-BFF82920D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ใส่บัตร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ATM</a:t>
            </a:r>
          </a:p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ป้อนรหัสบัตร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ATM</a:t>
            </a:r>
          </a:p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เข้าสู่หน้าบริการ</a:t>
            </a:r>
          </a:p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เลือกเมนูโอนเงิน</a:t>
            </a:r>
          </a:p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กดหมายเลขบัญชีปลายทางที่ต้องการโอน</a:t>
            </a:r>
          </a:p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ป้อนจำนวนเงิน</a:t>
            </a:r>
          </a:p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ตรวจสอบข้อมูลบัญชีปลายทาง</a:t>
            </a:r>
          </a:p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กดตกลง</a:t>
            </a:r>
          </a:p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รับบัตรคืน</a:t>
            </a:r>
          </a:p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รับสลิปการโอนเงิน</a:t>
            </a:r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94583D25-AD48-0450-A1F9-1CBF7F174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602" y="1988840"/>
            <a:ext cx="4031940" cy="26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41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pPr eaLnBrk="1" hangingPunct="1"/>
            <a:r>
              <a:rPr lang="th-TH" dirty="0"/>
              <a:t>แสดงขั้นตอนวิธีการปรุงบะหมี่กึ่งสำเร็จรูป</a:t>
            </a:r>
          </a:p>
        </p:txBody>
      </p:sp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714348" y="1500174"/>
            <a:ext cx="7715304" cy="51435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7200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th-TH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การปรุงบะหมี่กึ่งสำเร็จรูป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ขั้นตอนวิธี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: </a:t>
            </a:r>
            <a:r>
              <a:rPr kumimoji="0" lang="th-TH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แบบต้ม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1.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ต้มน้ำ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320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ซม</a:t>
            </a:r>
            <a:r>
              <a:rPr kumimoji="0" lang="en-US" sz="16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ให้เดือด</a:t>
            </a:r>
            <a:r>
              <a:rPr lang="en-US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		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2.</a:t>
            </a:r>
            <a:r>
              <a:rPr lang="th-TH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ใส่บะหมี่ ต้ม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3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นาที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3.</a:t>
            </a:r>
            <a:r>
              <a:rPr kumimoji="0" lang="th-TH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เทใส่จาน</a:t>
            </a:r>
            <a:r>
              <a:rPr lang="en-US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			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4.</a:t>
            </a:r>
            <a:r>
              <a:rPr lang="th-TH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เติมเครื่องปรุง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5.</a:t>
            </a:r>
            <a:r>
              <a:rPr kumimoji="0" lang="th-TH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คนให้เข้ากันรับประทานได้ทันที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th-TH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 </a:t>
            </a:r>
            <a:r>
              <a:rPr kumimoji="0" lang="th-TH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แบบชง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1.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นำบะหมี่และเครื่องปรุงใส่ชาม</a:t>
            </a:r>
            <a:r>
              <a:rPr lang="en-US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2.</a:t>
            </a:r>
            <a:r>
              <a:rPr lang="th-TH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เติมน้ำเดือด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320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ซม</a:t>
            </a:r>
            <a:r>
              <a:rPr kumimoji="0" lang="en-US" sz="16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endParaRPr kumimoji="0" lang="th-TH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3.</a:t>
            </a:r>
            <a:r>
              <a:rPr kumimoji="0" lang="th-TH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ปิดฝาทิ้งไว้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3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นาที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		4.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คนให้เข้ากันรับประทานได้ทันที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th-TH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 </a:t>
            </a:r>
            <a:r>
              <a:rPr kumimoji="0" lang="th-TH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แบบใช้เตาไมโครเวฟ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1.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นำบะหมี่ใส่ชามสำหรับเตาไมโครเวฟ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2.</a:t>
            </a:r>
            <a:r>
              <a:rPr kumimoji="0" lang="th-TH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เติมน้ำ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320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ซม</a:t>
            </a:r>
            <a:r>
              <a:rPr kumimoji="0" lang="en-US" sz="16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3.</a:t>
            </a:r>
            <a:r>
              <a:rPr lang="th-TH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นำชามบะหมี่เข้าเตาไมโครเวฟ (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900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วัตต์) 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5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นาที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4.</a:t>
            </a:r>
            <a:r>
              <a:rPr kumimoji="0" lang="th-TH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ใส่เครื่องปรุง</a:t>
            </a:r>
            <a:r>
              <a:rPr lang="th-TH" sz="1600" b="0" dirty="0">
                <a:latin typeface="Tahoma" pitchFamily="34" charset="0"/>
                <a:ea typeface="Tahoma" pitchFamily="34" charset="0"/>
                <a:cs typeface="Tahoma" pitchFamily="34" charset="0"/>
              </a:rPr>
              <a:t>			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5.</a:t>
            </a:r>
            <a:r>
              <a:rPr kumimoji="0" lang="th-TH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th-TH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คนให้เข้ากันรับประทานได้ทันที</a:t>
            </a:r>
            <a:endParaRPr kumimoji="0" lang="th-TH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pPr eaLnBrk="1" hangingPunct="1"/>
            <a:r>
              <a:rPr lang="th-TH" dirty="0"/>
              <a:t>ขั้นตอนวิธีของการพับนกด้วยกระดาษ</a:t>
            </a:r>
          </a:p>
        </p:txBody>
      </p:sp>
      <p:pic>
        <p:nvPicPr>
          <p:cNvPr id="4" name="รูปภาพ 3" descr="รูปพับนก.jpg"/>
          <p:cNvPicPr/>
          <p:nvPr/>
        </p:nvPicPr>
        <p:blipFill>
          <a:blip r:embed="rId2" cstate="print">
            <a:lum contrast="40000"/>
          </a:blip>
          <a:srcRect l="7840" t="20160" r="5449" b="16643"/>
          <a:stretch>
            <a:fillRect/>
          </a:stretch>
        </p:blipFill>
        <p:spPr>
          <a:xfrm>
            <a:off x="1714480" y="1500174"/>
            <a:ext cx="5786478" cy="5143536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34089E1-5B77-D767-D76B-24088C90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วัตถุประสงค์</a:t>
            </a:r>
            <a:endParaRPr lang="en-US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D723DFBE-14ED-8AD5-D39F-23F4FC419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/>
              <a:t>เลือกให้เป็น </a:t>
            </a:r>
            <a:r>
              <a:rPr lang="th-TH" dirty="0"/>
              <a:t>คือ ในการเขียนโปรแกรมมีโครงสร้างหลายตัวให้เลือกใช้งาน จะเลือกโครงสร้างแบบไหนดีถึงจะประหยัดเนื้อที่ หรือมีประสิทธิในการทำงานที่รวดเร็ว ในสถานการณ์ต่างๆ</a:t>
            </a:r>
          </a:p>
          <a:p>
            <a:r>
              <a:rPr lang="th-TH" b="1" dirty="0"/>
              <a:t>ใช้ให้เป็น </a:t>
            </a:r>
            <a:r>
              <a:rPr lang="th-TH" dirty="0"/>
              <a:t>คือ เมื่อเลือกโครงสร้างที่จะเขียนโปรแกรมได้แล้ว เราจะมีจะที่การนำมาเขียนโปรแกรมอย่างไร มีบริการอะไรบ้างที่สามารถนำมาใช้ในการเขียนโปรแกรม</a:t>
            </a:r>
          </a:p>
          <a:p>
            <a:r>
              <a:rPr lang="th-TH" b="1" dirty="0"/>
              <a:t>สร้างให้เป็น </a:t>
            </a:r>
            <a:r>
              <a:rPr lang="th-TH" dirty="0"/>
              <a:t>คือ ผู้เขียนโปรแกรมจะมีวิธีการสร้างโปรแกรมอย่างไร ที่จะสามารถใช้บริการต่างๆ เรานั้นที่มีให้สามารถนำมาใช้ในการสร้างโปรแกรม</a:t>
            </a:r>
          </a:p>
          <a:p>
            <a:endParaRPr lang="th-TH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63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734DF32-E37C-B564-5DDF-2B1495A4C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โครงสร้างข้อมูลที่ดี</a:t>
            </a:r>
            <a:endParaRPr lang="en-US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5FDE23-7E6D-EE65-1F33-48724B0F1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/>
          <a:lstStyle/>
          <a:p>
            <a:pPr algn="thaiDist"/>
            <a:r>
              <a:rPr lang="th-TH" sz="3000" dirty="0"/>
              <a:t>ให้บริการตามที่ต้องการ คือ การออกแบบโครงสร้างตามที่ต้องการการเท่านั้น ไม่ควรออกแบบการบริการที่มากเกินความจำเป็นที่ต้องใช้ มากเกินความต้องการ เพราะอาจทำให้โครงสร้างข้อมูลใช้เนื้อที่มากเกินไป หรือทำให้การทำงานเกิดความล่าช้า </a:t>
            </a:r>
          </a:p>
          <a:p>
            <a:pPr algn="thaiDist"/>
            <a:r>
              <a:rPr lang="th-TH" sz="3000" dirty="0"/>
              <a:t>ใช้ง่าย คือ วิธีที่นำไปใช้งานไม่ซับซ้อนมาก สามารถเรียนรู้นำไปใช้งานได้อย่างรวดเร็ว</a:t>
            </a:r>
          </a:p>
          <a:p>
            <a:pPr algn="thaiDist"/>
            <a:r>
              <a:rPr lang="th-TH" sz="3000" dirty="0"/>
              <a:t>ใช้เนื้อที่น้อย คือ เป็นโครงสร้างข้อมูลที่มีการใช้เนื้อที่ในหน่วยความจำน้อย ๆ เพราะในเครื่องคอมพิวเตอร์ 1 เครื่อง ในขณะที่เราใช้งานอยู่โปรแกรมของเราก็ทำงานร่วมกับโปรแกรมอื่นด้วย </a:t>
            </a:r>
          </a:p>
          <a:p>
            <a:pPr algn="thaiDist"/>
            <a:r>
              <a:rPr lang="th-TH" sz="3000" dirty="0"/>
              <a:t>ทำงานได้อย่างรวดเร็ว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10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8DC646F-6097-49E5-267C-A6A59EBB5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สรุป</a:t>
            </a:r>
            <a:endParaRPr lang="en-US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C235923-3935-D50A-E382-D3ACD7A1A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thaiDist">
              <a:buNone/>
            </a:pPr>
            <a:r>
              <a:rPr lang="th-TH" dirty="0"/>
              <a:t>	ศึกษาวิธีการจัดเก็บและการจัดการข้อมูล เพื่อให้ตรงตามความต้องการของผู้ใช้ ให้ได้โครงสร้างข้อมูลที่มีการทำงานได้อย่างรวดเร็ว ประหยัดเนื้อที่หน่วยความจำ และมีโครงสร้างข้อมูลที่เข้าใจง่าย เพื่อสามารถดูแลรักษา หาข้อผิดพลาดได้ง่ายรวดเร็ว ทำงานได้ดีรวดเร็ว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409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EBFCC-67CD-7E9B-3AE5-87A6B482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4724D370-AF7E-A7C4-466A-4245BD3AC5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sz="4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จาวาสคริปต์</a:t>
            </a:r>
            <a:r>
              <a:rPr lang="en-US" sz="4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(JavaScript) </a:t>
            </a:r>
            <a:r>
              <a:rPr lang="th-TH" sz="4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คืออะไร</a:t>
            </a:r>
            <a:endParaRPr lang="en-US" sz="4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" name="ตัวแทนเนื้อหา 1">
            <a:extLst>
              <a:ext uri="{FF2B5EF4-FFF2-40B4-BE49-F238E27FC236}">
                <a16:creationId xmlns:a16="http://schemas.microsoft.com/office/drawing/2014/main" id="{38F18D39-C611-428D-6014-E45D7B3EC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6"/>
            <a:ext cx="7924800" cy="4607024"/>
          </a:xfrm>
        </p:spPr>
        <p:txBody>
          <a:bodyPr/>
          <a:lstStyle/>
          <a:p>
            <a:pPr marL="0" indent="0" algn="thaiDist">
              <a:buNone/>
            </a:pP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เป็นภาษาคอมพิวเตอร์ที่ใช้ในการพัฒนาเว็บร่วมกับ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HTML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เพื่อให้เว็บมีลักษณะแบบ</a:t>
            </a:r>
            <a:r>
              <a:rPr lang="th-TH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ได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นาม</a:t>
            </a:r>
            <a:r>
              <a:rPr lang="th-TH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ิก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คือ เว็บสามารถตอบสนองกับผู้ใช้งานหรือแสดงเนื้อหาที่แตกต่างกันไปโดยจะอ้างอิงตามเว็บบราวเซอร์ที่ผู้เข้าชมเว็บใช้งานอยู่</a:t>
            </a:r>
          </a:p>
          <a:p>
            <a:pPr marL="0" indent="0" algn="thaiDist">
              <a:buNone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เป็นภาษาที่ทำงานฝั่งผู้ใช้งาน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(Client Side Script)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โดยเว็บ</a:t>
            </a:r>
            <a:r>
              <a:rPr lang="th-TH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เบ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ราว์เซอร์จะทำหน้าที่ ในประมวลผลคำสั่งที่ถูกเขียนขึ้น และตอบสนองผู้ใช้งานได้ในทันที เช่น การแสดงข้อความแจ้งเตือน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(Alert)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การตรวจสอบข้อมูลผู้ใช้งาน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Valiation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เป็นต้น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A61C5236-A41C-6D4F-FDA9-71796AB875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th-TH" altLang="th-TH" sz="1200" dirty="0"/>
              <a:t>ผศ.ศรายุทธ เนียนกระโทก</a:t>
            </a:r>
            <a:r>
              <a:rPr lang="en-US" altLang="th-TH" sz="1200" dirty="0"/>
              <a:t> (</a:t>
            </a:r>
            <a:r>
              <a:rPr lang="en-US" altLang="th-TH" sz="1200" dirty="0" err="1"/>
              <a:t>มหาวิทยาลัยราชภัฏนครราชสีมา</a:t>
            </a:r>
            <a:r>
              <a:rPr lang="en-US" altLang="th-TH" sz="1200" dirty="0"/>
              <a:t>)</a:t>
            </a:r>
            <a:endParaRPr lang="th-TH" altLang="th-TH" sz="1200" dirty="0"/>
          </a:p>
        </p:txBody>
      </p:sp>
    </p:spTree>
    <p:extLst>
      <p:ext uri="{BB962C8B-B14F-4D97-AF65-F5344CB8AC3E}">
        <p14:creationId xmlns:p14="http://schemas.microsoft.com/office/powerpoint/2010/main" val="510803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6DF7B2C-3C57-1E70-E313-42D11EA97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ความสามารถของ </a:t>
            </a:r>
            <a:r>
              <a:rPr lang="en-US" dirty="0"/>
              <a:t>JavaScript</a:t>
            </a:r>
            <a:endParaRPr lang="th-TH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7AD3CD-55A1-4CBC-6BC6-6B806E9D9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เปลี่ยนแปลงรูปแบบการแสดงผลของ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HTML,CSS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ได้</a:t>
            </a:r>
          </a:p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ตรวจสอบความถูกต้องของข้อมูลได้</a:t>
            </a:r>
          </a:p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ตรวจสอบเว็บบราวเซอร์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b="1" i="0" dirty="0">
                <a:solidFill>
                  <a:srgbClr val="1F1F1F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Web Browser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ของผู้ใช้ได้</a:t>
            </a:r>
          </a:p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เก็บข้อมูลผู้ใช้ได้ เช่น การใช้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Cookie, Local Storage, Session Storage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เป็นต้น</a:t>
            </a:r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4537D34E-F758-5E0D-9F72-E98ABF4E3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3248000" cy="476250"/>
          </a:xfrm>
        </p:spPr>
        <p:txBody>
          <a:bodyPr/>
          <a:lstStyle/>
          <a:p>
            <a:pPr>
              <a:defRPr/>
            </a:pPr>
            <a:r>
              <a:rPr lang="th-TH" dirty="0"/>
              <a:t>ผศ.ศรายุทธ เนียนกระโทก </a:t>
            </a:r>
            <a:r>
              <a:rPr lang="en-US" dirty="0"/>
              <a:t>(</a:t>
            </a:r>
            <a:r>
              <a:rPr lang="en-US" dirty="0" err="1"/>
              <a:t>มหาวิทยาลัยราชภัฏนครราชสีมา</a:t>
            </a:r>
            <a:r>
              <a:rPr lang="en-US" dirty="0"/>
              <a:t>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540047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5E010-E01B-2440-CB1E-8DD2508E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รูปภาพ 1">
            <a:extLst>
              <a:ext uri="{FF2B5EF4-FFF2-40B4-BE49-F238E27FC236}">
                <a16:creationId xmlns:a16="http://schemas.microsoft.com/office/drawing/2014/main" id="{0ABDBF1E-D333-D3D5-950E-2ED89CD1C7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284984"/>
            <a:ext cx="3664919" cy="2033712"/>
          </a:xfrm>
          <a:prstGeom prst="rect">
            <a:avLst/>
          </a:prstGeom>
        </p:spPr>
      </p:pic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C95B5594-AC0D-BCFE-F025-3F5A5A89C032}"/>
              </a:ext>
            </a:extLst>
          </p:cNvPr>
          <p:cNvSpPr/>
          <p:nvPr/>
        </p:nvSpPr>
        <p:spPr>
          <a:xfrm>
            <a:off x="611560" y="2132856"/>
            <a:ext cx="803617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altLang="th-TH" sz="4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โปรแกรมบรรณาธิการ (</a:t>
            </a:r>
            <a:r>
              <a:rPr lang="en-US" altLang="th-TH" sz="4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Visual Studio Code)</a:t>
            </a:r>
            <a:endParaRPr lang="th-TH" sz="4800" b="1" i="1" dirty="0">
              <a:ln w="12700">
                <a:solidFill>
                  <a:schemeClr val="accent1"/>
                </a:solidFill>
                <a:prstDash val="solid"/>
              </a:ln>
              <a:effectLst>
                <a:outerShdw dist="38100" dir="2640000" algn="bl" rotWithShape="0">
                  <a:schemeClr val="accent1"/>
                </a:outerShdw>
              </a:effectLst>
              <a:latin typeface="Angsana New" panose="02020603050405020304" pitchFamily="18" charset="-34"/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85130601-53FF-676F-DA3A-6C1B347985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th-TH" altLang="th-TH" sz="1200" dirty="0"/>
              <a:t>ผศ.ศรายุทธ เนียนกระโทก</a:t>
            </a:r>
            <a:r>
              <a:rPr lang="en-US" altLang="th-TH" sz="1200" dirty="0"/>
              <a:t> (</a:t>
            </a:r>
            <a:r>
              <a:rPr lang="en-US" altLang="th-TH" sz="1200" dirty="0" err="1"/>
              <a:t>มหาวิทยาลัยราชภัฏนครราชสีมา</a:t>
            </a:r>
            <a:r>
              <a:rPr lang="en-US" altLang="th-TH" sz="1200" dirty="0"/>
              <a:t>)</a:t>
            </a:r>
            <a:endParaRPr lang="th-TH" altLang="th-TH" sz="1200" dirty="0"/>
          </a:p>
        </p:txBody>
      </p:sp>
    </p:spTree>
    <p:extLst>
      <p:ext uri="{BB962C8B-B14F-4D97-AF65-F5344CB8AC3E}">
        <p14:creationId xmlns:p14="http://schemas.microsoft.com/office/powerpoint/2010/main" val="3438338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A6D76DC4-47B2-76FA-D8B6-ABCC74EDF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Visual Studio Code</a:t>
            </a:r>
            <a:endParaRPr lang="th-TH" altLang="th-TH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ตัวแทนเนื้อหา 4">
            <a:extLst>
              <a:ext uri="{FF2B5EF4-FFF2-40B4-BE49-F238E27FC236}">
                <a16:creationId xmlns:a16="http://schemas.microsoft.com/office/drawing/2014/main" id="{552376A6-35F5-E0F5-0B42-7C7252906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thaiDist"/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เป็นโปรแกรมประเภท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Code Editor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หรือเครื่องมือสำหรับใช้ในการเขียนโปรแกรมที่ได้รับความนิยมในปัจจุบัน เหมาะสำหรับนักพัฒนาทุกระดับ</a:t>
            </a:r>
          </a:p>
          <a:p>
            <a:pPr algn="thaiDist"/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รองรับการทำงานบน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windows, macOS, Linux</a:t>
            </a:r>
          </a:p>
          <a:p>
            <a:pPr algn="thaiDist"/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รองรับการเขียนโปรแกรมได้หลายภาษา</a:t>
            </a:r>
          </a:p>
          <a:p>
            <a:pPr algn="thaiDist"/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ใช้งานได้ฟรี มีขนาดเล็กและการทำงานได้อย่างรวดเร็ว</a:t>
            </a:r>
          </a:p>
          <a:p>
            <a:pPr algn="thaiDist"/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มีส่วนเสริม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(Extension)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ช่วยอำนวยความสะดวกในการเขียนโปรแกรม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2535FC47-556A-B295-6A28-247564EB00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th-TH" altLang="th-TH" sz="1200" dirty="0"/>
              <a:t>ผศ.ศรายุทธ เนียนกระโทก</a:t>
            </a:r>
            <a:r>
              <a:rPr lang="en-US" altLang="th-TH" sz="1200" dirty="0"/>
              <a:t> (</a:t>
            </a:r>
            <a:r>
              <a:rPr lang="en-US" altLang="th-TH" sz="1200" dirty="0" err="1"/>
              <a:t>มหาวิทยาลัยราชภัฏนครราชสีมา</a:t>
            </a:r>
            <a:r>
              <a:rPr lang="en-US" altLang="th-TH" sz="1200" dirty="0"/>
              <a:t>)</a:t>
            </a:r>
            <a:endParaRPr lang="th-TH" altLang="th-TH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137E22B-6CB7-F116-35B9-7172E331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Download </a:t>
            </a:r>
            <a:r>
              <a:rPr lang="en-US" altLang="th-TH" sz="4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Visual Studio Code</a:t>
            </a:r>
            <a:r>
              <a:rPr lang="en-US" sz="4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th-TH" sz="4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ตัวแทนเนื้อหา 5">
            <a:extLst>
              <a:ext uri="{FF2B5EF4-FFF2-40B4-BE49-F238E27FC236}">
                <a16:creationId xmlns:a16="http://schemas.microsoft.com/office/drawing/2014/main" id="{143C4756-9FD8-7DC8-E8E2-328BD3F88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510" y="1894819"/>
            <a:ext cx="7608040" cy="4087120"/>
          </a:xfr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0F4AC889-B30C-8518-E42D-83B4B794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8C059C08-E8E6-84C1-0843-9D327A511728}"/>
              </a:ext>
            </a:extLst>
          </p:cNvPr>
          <p:cNvSpPr txBox="1"/>
          <p:nvPr/>
        </p:nvSpPr>
        <p:spPr>
          <a:xfrm>
            <a:off x="649413" y="1305192"/>
            <a:ext cx="4949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https://code.visualstudio.com</a:t>
            </a:r>
            <a:endParaRPr lang="th-TH" sz="3600" b="1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สี่เหลี่ยมผืนผ้า: มุมมน 8">
            <a:extLst>
              <a:ext uri="{FF2B5EF4-FFF2-40B4-BE49-F238E27FC236}">
                <a16:creationId xmlns:a16="http://schemas.microsoft.com/office/drawing/2014/main" id="{2A4E8712-E6A3-2897-8B91-34179D60982B}"/>
              </a:ext>
            </a:extLst>
          </p:cNvPr>
          <p:cNvSpPr/>
          <p:nvPr/>
        </p:nvSpPr>
        <p:spPr>
          <a:xfrm>
            <a:off x="3275856" y="3750485"/>
            <a:ext cx="1296144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99358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8116F48-452C-082D-70FF-1AAA3E0BD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หน้าหลักของโปรแกรม </a:t>
            </a:r>
            <a:r>
              <a:rPr lang="en-US" altLang="th-TH" sz="44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Visual Studio Code</a:t>
            </a:r>
            <a:endParaRPr lang="th-TH" dirty="0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E3A75AB4-66A2-270E-8E27-187CDBC7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  <p:pic>
        <p:nvPicPr>
          <p:cNvPr id="5" name="ตัวแทนเนื้อหา 4">
            <a:extLst>
              <a:ext uri="{FF2B5EF4-FFF2-40B4-BE49-F238E27FC236}">
                <a16:creationId xmlns:a16="http://schemas.microsoft.com/office/drawing/2014/main" id="{6E28707F-928F-FC2E-142A-B83AE7DD2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1562100"/>
            <a:ext cx="79248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814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F3F75F4-6BE1-AA66-F7C0-18FA0C390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กำหนดเปิดตำแหน่งที่อยู่สำหรับเพิ่มต้นการเขียนโค้ด</a:t>
            </a:r>
          </a:p>
        </p:txBody>
      </p:sp>
      <p:pic>
        <p:nvPicPr>
          <p:cNvPr id="6" name="ตัวแทนเนื้อหา 5">
            <a:extLst>
              <a:ext uri="{FF2B5EF4-FFF2-40B4-BE49-F238E27FC236}">
                <a16:creationId xmlns:a16="http://schemas.microsoft.com/office/drawing/2014/main" id="{C16CD4B7-DBA8-EC0B-4A46-8820F13824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93577"/>
            <a:ext cx="7924800" cy="4232845"/>
          </a:xfr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11B52A32-AE56-EC04-5A27-21D63F16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73703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1096021-9087-E6AD-9D6A-E8DDBC5B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z="3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ปลั๊กอินช่วยในการเขียนโค้ด (</a:t>
            </a:r>
            <a:r>
              <a:rPr lang="en-US" sz="3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HTML CSS Support</a:t>
            </a:r>
            <a:r>
              <a:rPr lang="th-TH" sz="3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</a:p>
        </p:txBody>
      </p:sp>
      <p:pic>
        <p:nvPicPr>
          <p:cNvPr id="6" name="ตัวแทนเนื้อหา 5">
            <a:extLst>
              <a:ext uri="{FF2B5EF4-FFF2-40B4-BE49-F238E27FC236}">
                <a16:creationId xmlns:a16="http://schemas.microsoft.com/office/drawing/2014/main" id="{D81350DB-3E03-8AD2-1A9E-E8E0F0B78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78878"/>
            <a:ext cx="7924800" cy="4262243"/>
          </a:xfr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F31528A5-4E07-9EC5-087A-AF258F7BD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594163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1E2B847-8FF4-149E-C23E-F643C47F0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ปลั๊กอินช่วยในการสะกดคำ 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(HTML/CSS/JavaScript Snippets)</a:t>
            </a:r>
            <a:endParaRPr lang="th-TH" sz="32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ตัวแทนเนื้อหา 5">
            <a:extLst>
              <a:ext uri="{FF2B5EF4-FFF2-40B4-BE49-F238E27FC236}">
                <a16:creationId xmlns:a16="http://schemas.microsoft.com/office/drawing/2014/main" id="{20F18178-097F-1A9E-12C1-922A294BC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81171"/>
            <a:ext cx="7924800" cy="4257657"/>
          </a:xfr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808BD727-B5A1-0A2E-D294-00D8BB85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300063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BA3A2FB-8819-357C-0A89-CADF308EA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Auto Rename Tag </a:t>
            </a:r>
            <a:r>
              <a:rPr lang="th-TH" sz="28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800" b="1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ใช้สำหรับเปลี่ยนชื่อ </a:t>
            </a:r>
            <a:r>
              <a:rPr lang="en-US" sz="2800" b="1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HTML Tags </a:t>
            </a:r>
            <a:r>
              <a:rPr lang="th-TH" sz="2800" b="1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ที่คู่กันให้โดยอัตโนมัติ</a:t>
            </a:r>
            <a:endParaRPr lang="th-TH" sz="2800" dirty="0">
              <a:solidFill>
                <a:schemeClr val="tx1"/>
              </a:solidFill>
            </a:endParaRPr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78423073-28E2-7937-CF5E-355F6CB42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  <p:pic>
        <p:nvPicPr>
          <p:cNvPr id="9" name="ตัวแทนเนื้อหา 8">
            <a:extLst>
              <a:ext uri="{FF2B5EF4-FFF2-40B4-BE49-F238E27FC236}">
                <a16:creationId xmlns:a16="http://schemas.microsoft.com/office/drawing/2014/main" id="{E25331EA-4233-525F-A5BC-20BFC5DF9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83471"/>
            <a:ext cx="7924800" cy="4253058"/>
          </a:xfrm>
        </p:spPr>
      </p:pic>
    </p:spTree>
    <p:extLst>
      <p:ext uri="{BB962C8B-B14F-4D97-AF65-F5344CB8AC3E}">
        <p14:creationId xmlns:p14="http://schemas.microsoft.com/office/powerpoint/2010/main" val="3936909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4062EBF-876E-6662-B2D0-094FF253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z="28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</a:t>
            </a:r>
          </a:p>
        </p:txBody>
      </p:sp>
      <p:pic>
        <p:nvPicPr>
          <p:cNvPr id="6" name="ตัวแทนเนื้อหา 5">
            <a:extLst>
              <a:ext uri="{FF2B5EF4-FFF2-40B4-BE49-F238E27FC236}">
                <a16:creationId xmlns:a16="http://schemas.microsoft.com/office/drawing/2014/main" id="{FF4B5285-3C67-639D-300C-E4D0B36FD4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557" y="1600200"/>
            <a:ext cx="6784886" cy="4419600"/>
          </a:xfr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F485BD2E-35EF-3682-80BB-1A9DD4B46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431AF161-C2D7-70D5-BB36-59AE19FADB13}"/>
              </a:ext>
            </a:extLst>
          </p:cNvPr>
          <p:cNvSpPr txBox="1"/>
          <p:nvPr/>
        </p:nvSpPr>
        <p:spPr>
          <a:xfrm>
            <a:off x="3369915" y="5496580"/>
            <a:ext cx="4594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ที่มา </a:t>
            </a:r>
            <a:r>
              <a:rPr lang="en-US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: https://www.techstarthailand.com/</a:t>
            </a:r>
            <a:endParaRPr lang="th-TH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57082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FB92336-2DC4-4F1F-5F36-AAA62EF3C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z="3200" b="1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เปิดหรือ</a:t>
            </a:r>
            <a:r>
              <a:rPr lang="th-TH" sz="32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แสดงผลบน</a:t>
            </a:r>
            <a:r>
              <a:rPr lang="th-TH" sz="3200" b="1" i="0" dirty="0" err="1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เบ</a:t>
            </a:r>
            <a:r>
              <a:rPr lang="th-TH" sz="3200" b="1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ราว์เซอร์โดยอัตโนมัติทุกครั้งที่มีการบันทึกไฟล์</a:t>
            </a:r>
            <a:endParaRPr lang="th-TH" sz="32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" name="ตัวแทนเนื้อหา 5">
            <a:extLst>
              <a:ext uri="{FF2B5EF4-FFF2-40B4-BE49-F238E27FC236}">
                <a16:creationId xmlns:a16="http://schemas.microsoft.com/office/drawing/2014/main" id="{231DC3D2-C1BE-7408-934B-ABFB3AD98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72389"/>
            <a:ext cx="7924800" cy="4275221"/>
          </a:xfr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1365BFE4-2F2C-9F38-90DF-24FCC884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84491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415E840-8672-5BC5-D67F-5DB0BF7F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รูปแบบการเขียน </a:t>
            </a:r>
            <a:r>
              <a:rPr lang="en-US" dirty="0"/>
              <a:t>JavaScript</a:t>
            </a:r>
            <a:endParaRPr lang="th-TH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7010B83D-8E74-074F-FACE-5910A31FF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แบบ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Internal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 กำหนด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JavaScript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ในส่วนของ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&lt;head&gt;&lt;/head&gt;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&lt;body&gt;&lt;/body&gt;</a:t>
            </a:r>
          </a:p>
          <a:p>
            <a:pPr marL="0" indent="0">
              <a:buNone/>
            </a:pPr>
            <a:endParaRPr lang="th-TH" dirty="0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9204198F-DB7F-7907-F60A-7591EB8A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  <p:pic>
        <p:nvPicPr>
          <p:cNvPr id="10" name="รูปภาพ 9">
            <a:extLst>
              <a:ext uri="{FF2B5EF4-FFF2-40B4-BE49-F238E27FC236}">
                <a16:creationId xmlns:a16="http://schemas.microsoft.com/office/drawing/2014/main" id="{75E14E53-5A35-FF36-46DE-51FCD09F8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387" y="2635463"/>
            <a:ext cx="6254067" cy="1513617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รูปภาพ 11">
            <a:extLst>
              <a:ext uri="{FF2B5EF4-FFF2-40B4-BE49-F238E27FC236}">
                <a16:creationId xmlns:a16="http://schemas.microsoft.com/office/drawing/2014/main" id="{CD47B3A8-89CC-EE09-3A07-2DEE8FF98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385" y="4366529"/>
            <a:ext cx="6254067" cy="1739976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8784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D4D8675-12D8-44DD-A2C8-820B96A9B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ปรับขนาดตัวอักษรสำหรับเขียนโค้ด</a:t>
            </a:r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E6A330A8-82DF-461A-96B3-1386CC9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  <p:pic>
        <p:nvPicPr>
          <p:cNvPr id="7" name="ตัวแทนเนื้อหา 6">
            <a:extLst>
              <a:ext uri="{FF2B5EF4-FFF2-40B4-BE49-F238E27FC236}">
                <a16:creationId xmlns:a16="http://schemas.microsoft.com/office/drawing/2014/main" id="{C0276E92-34A5-46A0-953F-27161C4B13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61786"/>
            <a:ext cx="7924800" cy="42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603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48B2BBA-7A25-E420-F864-9CC3E66DE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แบบ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Internal 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 กำหนด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JavaScript 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ไว้ในส่วนของ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&lt;head&gt;&lt;/head&gt; 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&lt;body&gt;&lt;/body&gt;</a:t>
            </a:r>
            <a:endParaRPr lang="th-TH" sz="2800" b="1" dirty="0"/>
          </a:p>
        </p:txBody>
      </p:sp>
      <p:pic>
        <p:nvPicPr>
          <p:cNvPr id="6" name="ตัวแทนเนื้อหา 5">
            <a:extLst>
              <a:ext uri="{FF2B5EF4-FFF2-40B4-BE49-F238E27FC236}">
                <a16:creationId xmlns:a16="http://schemas.microsoft.com/office/drawing/2014/main" id="{7CDE12D4-ADC4-8699-4A84-664C79182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935018"/>
            <a:ext cx="7924800" cy="3749963"/>
          </a:xfr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C716FCA4-FB31-679B-392A-51E91FE4C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479381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823D719-6142-6BAC-1DC2-D6B9508F3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 แบบ 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External </a:t>
            </a:r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 กำหนด 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JavaScript </a:t>
            </a:r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ไว้เป็นไฟล์ด้านนอกที่มีนามสกุล .</a:t>
            </a:r>
            <a:r>
              <a:rPr lang="en-US" sz="32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js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จากนั้นก็นำเข้ามาทำงานในหน้าเว็บ หรือ 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html </a:t>
            </a:r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ไฟล์</a:t>
            </a:r>
          </a:p>
        </p:txBody>
      </p:sp>
      <p:pic>
        <p:nvPicPr>
          <p:cNvPr id="6" name="ตัวแทนเนื้อหา 5">
            <a:extLst>
              <a:ext uri="{FF2B5EF4-FFF2-40B4-BE49-F238E27FC236}">
                <a16:creationId xmlns:a16="http://schemas.microsoft.com/office/drawing/2014/main" id="{544DF352-70BA-356C-75A0-7C1738CD9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544" y="1412776"/>
            <a:ext cx="7924800" cy="2582083"/>
          </a:xfr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5EAD1FC2-ABB5-7B5B-0098-1161E550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  <p:pic>
        <p:nvPicPr>
          <p:cNvPr id="8" name="รูปภาพ 7">
            <a:extLst>
              <a:ext uri="{FF2B5EF4-FFF2-40B4-BE49-F238E27FC236}">
                <a16:creationId xmlns:a16="http://schemas.microsoft.com/office/drawing/2014/main" id="{D44AEF54-9F5D-4383-F0F0-D383639A9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4073879"/>
            <a:ext cx="7924800" cy="205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4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B20205F-6FB3-BCAB-53CB-84A0FF2B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การแสดงข้อมูล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E6D73364-E834-78CF-289B-321C6E563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รูปแบบที่ใช้สำหรับแสดงข้อความตัวเลข ตัวแปร หรือแท็ก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HTML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ก็ได้ในหน้าเว็บ 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	</a:t>
            </a: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document.writeln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(“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ข้อความที่ต้องการแสดง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”); </a:t>
            </a:r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รูปแบบการแจ้งเตือนผู้ใช้ในหน้าเว็บ</a:t>
            </a:r>
          </a:p>
          <a:p>
            <a:pPr marL="457200" lvl="1" indent="0">
              <a:buNone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alert(“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ข้อความแจ้งเตือน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”);</a:t>
            </a:r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รูปแบบที่ใช้สำหรับการ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debug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ค่าต่างๆ แต่จะไม่แสดงในหน้าเว็บ</a:t>
            </a:r>
          </a:p>
          <a:p>
            <a:pPr marL="0" indent="0">
              <a:buNone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console.log(“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ข้อความ หรือ ตัวแปร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”);</a:t>
            </a:r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098546C7-B6EA-C8EF-4A78-09F38C6F4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51413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57C0220-0B8C-FBAA-1505-5252D34CA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ตัวอย่างการแสดงผลในรูปแบบต่าง</a:t>
            </a:r>
          </a:p>
        </p:txBody>
      </p:sp>
      <p:pic>
        <p:nvPicPr>
          <p:cNvPr id="6" name="ตัวแทนเนื้อหา 5">
            <a:extLst>
              <a:ext uri="{FF2B5EF4-FFF2-40B4-BE49-F238E27FC236}">
                <a16:creationId xmlns:a16="http://schemas.microsoft.com/office/drawing/2014/main" id="{EF61098D-C10F-F0C5-B17C-55F5EFDFF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654968"/>
            <a:ext cx="7924800" cy="2310063"/>
          </a:xfr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05CA3D10-C2B7-0CE0-B74B-AE3AA54A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5443766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C96FB3E-D9A1-21E7-FA6F-7DED835A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Node JS</a:t>
            </a:r>
            <a:endParaRPr lang="th-TH" b="1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7103EA9C-C712-268F-F1B2-195855308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thaiDist">
              <a:buNone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ในปัจจุบันได้มีการพัฒนาชุดแปลคำสั่งของ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JavaScript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ขึ้นมาใหม่โดยที่ไม่ต้องขึ้นอยู่กับ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Web Browser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นั่นก็คือ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Node.js</a:t>
            </a:r>
          </a:p>
          <a:p>
            <a:pPr marL="0" indent="0" algn="thaiDist">
              <a:buNone/>
            </a:pP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Node.js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เป็นชุดเครื่องมือในการแปลคำสั่งของ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JavaScript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เป็น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JavaScript Runtime Environment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กล่าวคือ สามารถนำ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JavaScript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ไปรันใน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Windows , Mac , Linux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ได้ โดยไม่ขึ้นกับ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Web Browser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ส่งผลให้สามารถรันโค้ด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JavaScript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Nodejs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ได้เลย โดยไม่จำเป็นต้องสร้างเป็นเว็บเพจ แล้วนำเว็บเพ</a:t>
            </a:r>
            <a:r>
              <a:rPr lang="th-TH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จไ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ปรันใน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Web Browser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นั่นเอง</a:t>
            </a:r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06226435-9B61-201D-D662-E34567F0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  <p:pic>
        <p:nvPicPr>
          <p:cNvPr id="16" name="รูปภาพ 15">
            <a:extLst>
              <a:ext uri="{FF2B5EF4-FFF2-40B4-BE49-F238E27FC236}">
                <a16:creationId xmlns:a16="http://schemas.microsoft.com/office/drawing/2014/main" id="{B3C9C0D5-77B6-51DB-86D0-9605E5D64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319" y="-220543"/>
            <a:ext cx="3277337" cy="182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149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FA1881B-6053-D59C-097A-7B83CF3D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เครื่องมือพื้นฐานเพิ่มเติม 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(Visual Studio Code)</a:t>
            </a:r>
            <a:endParaRPr lang="th-TH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6B28EC23-C318-EA19-5742-AEC3559CF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Node.js</a:t>
            </a:r>
          </a:p>
          <a:p>
            <a:r>
              <a:rPr lang="en-US" sz="4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Code Runner (Extension)</a:t>
            </a:r>
          </a:p>
          <a:p>
            <a:r>
              <a:rPr lang="en-US" sz="4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Prettier – code formatter (Extension)</a:t>
            </a:r>
            <a:endParaRPr lang="th-TH" sz="4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94735D90-C69D-80F8-687E-583E9861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535533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92501C7-7545-403A-9894-01AE2B0D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Node JS</a:t>
            </a:r>
            <a:endParaRPr lang="th-TH" dirty="0"/>
          </a:p>
        </p:txBody>
      </p:sp>
      <p:pic>
        <p:nvPicPr>
          <p:cNvPr id="5" name="ตัวแทนเนื้อหา 4">
            <a:extLst>
              <a:ext uri="{FF2B5EF4-FFF2-40B4-BE49-F238E27FC236}">
                <a16:creationId xmlns:a16="http://schemas.microsoft.com/office/drawing/2014/main" id="{C0BD3D6D-5FE4-4932-B00A-627DFDA78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787" y="2132856"/>
            <a:ext cx="7299763" cy="3950505"/>
          </a:xfrm>
          <a:prstGeom prst="rect">
            <a:avLst/>
          </a:prstGeo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F2D735E5-FE5B-4C19-8669-ED305CF9F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0179ADB7-75D2-5851-4C42-31F449027528}"/>
              </a:ext>
            </a:extLst>
          </p:cNvPr>
          <p:cNvSpPr txBox="1"/>
          <p:nvPr/>
        </p:nvSpPr>
        <p:spPr>
          <a:xfrm>
            <a:off x="893481" y="1410390"/>
            <a:ext cx="30989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https://nodejs.org</a:t>
            </a:r>
            <a:endParaRPr lang="th-TH" sz="4000" b="1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787781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5856C1D-8784-4864-B3F5-508F4F37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ตรวจสอบการติดตั้ง </a:t>
            </a:r>
            <a:r>
              <a:rPr lang="en-US" dirty="0"/>
              <a:t>Node JS</a:t>
            </a:r>
            <a:endParaRPr lang="th-TH" dirty="0"/>
          </a:p>
        </p:txBody>
      </p:sp>
      <p:pic>
        <p:nvPicPr>
          <p:cNvPr id="5" name="ตัวแทนเนื้อหา 4">
            <a:extLst>
              <a:ext uri="{FF2B5EF4-FFF2-40B4-BE49-F238E27FC236}">
                <a16:creationId xmlns:a16="http://schemas.microsoft.com/office/drawing/2014/main" id="{DE3E175F-F31B-442E-ADDB-22268C9F5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757580"/>
            <a:ext cx="7924800" cy="4104839"/>
          </a:xfrm>
          <a:prstGeom prst="rect">
            <a:avLst/>
          </a:prstGeo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B4A375AD-9ED7-4241-B150-6C0E8BE8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765065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0C32A3D-6D3C-4B6A-B990-9C84304C3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ทดสอบรัน </a:t>
            </a:r>
            <a:r>
              <a:rPr lang="en-US" dirty="0"/>
              <a:t>JavaScript </a:t>
            </a:r>
            <a:r>
              <a:rPr lang="th-TH" dirty="0"/>
              <a:t>ผ่าน </a:t>
            </a:r>
            <a:r>
              <a:rPr lang="en-US" dirty="0"/>
              <a:t>node JS</a:t>
            </a:r>
            <a:endParaRPr lang="th-TH" dirty="0"/>
          </a:p>
        </p:txBody>
      </p:sp>
      <p:pic>
        <p:nvPicPr>
          <p:cNvPr id="5" name="ตัวแทนเนื้อหา 4">
            <a:extLst>
              <a:ext uri="{FF2B5EF4-FFF2-40B4-BE49-F238E27FC236}">
                <a16:creationId xmlns:a16="http://schemas.microsoft.com/office/drawing/2014/main" id="{2D34570D-672C-48E5-B7B2-E791A8D22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66578"/>
            <a:ext cx="7924800" cy="4286843"/>
          </a:xfrm>
          <a:prstGeom prst="rect">
            <a:avLst/>
          </a:prstGeo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F9ED0A01-8EE1-40C4-B78E-558A0DEC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3528110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2C4C614-415F-448F-8DF3-B02A5BA5D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ติดตั้ง </a:t>
            </a:r>
            <a:r>
              <a:rPr lang="en-US" dirty="0"/>
              <a:t>Code Runner </a:t>
            </a:r>
            <a:r>
              <a:rPr lang="th-TH" dirty="0"/>
              <a:t>สำหรับช่วยรันโปรแกรม</a:t>
            </a:r>
          </a:p>
        </p:txBody>
      </p:sp>
      <p:pic>
        <p:nvPicPr>
          <p:cNvPr id="5" name="ตัวแทนเนื้อหา 4">
            <a:extLst>
              <a:ext uri="{FF2B5EF4-FFF2-40B4-BE49-F238E27FC236}">
                <a16:creationId xmlns:a16="http://schemas.microsoft.com/office/drawing/2014/main" id="{B744DCC8-5714-4DFA-905E-A257AF4158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57249"/>
            <a:ext cx="7924800" cy="4305501"/>
          </a:xfrm>
          <a:prstGeom prst="rect">
            <a:avLst/>
          </a:prstGeo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5D49D5AD-91F8-4438-A81C-60BE19514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912110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EBF2658-A2EB-45BC-A1EF-D6CA48B38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sz="2800" dirty="0">
                <a:latin typeface="TH Sarabun New"/>
              </a:rPr>
              <a:t>ติดตั้ง </a:t>
            </a:r>
            <a:r>
              <a:rPr lang="en-US" sz="2800" b="1" dirty="0">
                <a:latin typeface="TH Sarabun New"/>
              </a:rPr>
              <a:t>Prettier - Code formatter (</a:t>
            </a:r>
            <a:r>
              <a:rPr lang="th-TH" sz="2800" b="1" dirty="0">
                <a:latin typeface="TH Sarabun New"/>
              </a:rPr>
              <a:t>สำหรับจัดรูปแบบเอกสาร </a:t>
            </a:r>
            <a:r>
              <a:rPr lang="en-US" sz="2800" b="1" dirty="0">
                <a:latin typeface="TH Sarabun New"/>
              </a:rPr>
              <a:t>JavaScript)</a:t>
            </a:r>
            <a:endParaRPr lang="th-TH" sz="2800" dirty="0">
              <a:latin typeface="TH Sarabun New"/>
            </a:endParaRPr>
          </a:p>
        </p:txBody>
      </p:sp>
      <p:pic>
        <p:nvPicPr>
          <p:cNvPr id="5" name="ตัวแทนเนื้อหา 4">
            <a:extLst>
              <a:ext uri="{FF2B5EF4-FFF2-40B4-BE49-F238E27FC236}">
                <a16:creationId xmlns:a16="http://schemas.microsoft.com/office/drawing/2014/main" id="{AF9026D0-1857-4024-8DFB-694493D89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57068"/>
            <a:ext cx="7924800" cy="4305863"/>
          </a:xfrm>
          <a:prstGeom prst="rect">
            <a:avLst/>
          </a:prstGeo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40210C08-24D4-4E5F-AD3F-A75CB210F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2558320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9A26366-71A8-44DA-ACCF-6FBA648B8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z="4400" b="1" dirty="0">
                <a:latin typeface="TH Sarabun New"/>
              </a:rPr>
              <a:t>จัดรูปแบบเอกสาร </a:t>
            </a:r>
            <a:r>
              <a:rPr lang="en-US" sz="4400" b="1" dirty="0">
                <a:latin typeface="TH Sarabun New"/>
              </a:rPr>
              <a:t>JavaScript</a:t>
            </a:r>
            <a:r>
              <a:rPr lang="th-TH" sz="4400" b="1" dirty="0">
                <a:latin typeface="TH Sarabun New"/>
              </a:rPr>
              <a:t> </a:t>
            </a:r>
            <a:endParaRPr lang="th-TH" dirty="0"/>
          </a:p>
        </p:txBody>
      </p:sp>
      <p:pic>
        <p:nvPicPr>
          <p:cNvPr id="5" name="ตัวแทนเนื้อหา 4">
            <a:extLst>
              <a:ext uri="{FF2B5EF4-FFF2-40B4-BE49-F238E27FC236}">
                <a16:creationId xmlns:a16="http://schemas.microsoft.com/office/drawing/2014/main" id="{BF27BE2A-0A67-430D-8D95-73C9860E50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980728"/>
            <a:ext cx="7924800" cy="3350866"/>
          </a:xfrm>
          <a:prstGeom prst="rect">
            <a:avLst/>
          </a:prstGeo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65AAFFC2-C7A4-4826-98C5-33FD415A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  <p:pic>
        <p:nvPicPr>
          <p:cNvPr id="6" name="รูปภาพ 5">
            <a:extLst>
              <a:ext uri="{FF2B5EF4-FFF2-40B4-BE49-F238E27FC236}">
                <a16:creationId xmlns:a16="http://schemas.microsoft.com/office/drawing/2014/main" id="{D78C44A3-79B5-4693-93D0-6A7859FF2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4330658"/>
            <a:ext cx="7924800" cy="197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391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0538E9A-6D03-4283-943D-D4F5A0863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ล้างข้อมูลทุกครั้งเมื่อทำการรันโปรแกรม</a:t>
            </a:r>
          </a:p>
        </p:txBody>
      </p:sp>
      <p:pic>
        <p:nvPicPr>
          <p:cNvPr id="5" name="ตัวแทนเนื้อหา 4">
            <a:extLst>
              <a:ext uri="{FF2B5EF4-FFF2-40B4-BE49-F238E27FC236}">
                <a16:creationId xmlns:a16="http://schemas.microsoft.com/office/drawing/2014/main" id="{63E899CF-3D69-4CE1-AB3E-288EE1144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091540"/>
            <a:ext cx="7924800" cy="3436920"/>
          </a:xfrm>
          <a:prstGeom prst="rect">
            <a:avLst/>
          </a:prstGeo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EC912FFC-572E-4AEB-9974-A58F4C52C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286369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99BE2AB-C640-4B43-8791-7857996DA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TH Sarabun New"/>
              </a:rPr>
              <a:t>ยกเลิกแสดงข้อความ </a:t>
            </a:r>
            <a:r>
              <a:rPr lang="en-US" b="1" dirty="0">
                <a:latin typeface="TH Sarabun New"/>
              </a:rPr>
              <a:t>[Running] [Done] </a:t>
            </a:r>
            <a:endParaRPr lang="th-TH" b="1" dirty="0">
              <a:latin typeface="TH Sarabun New"/>
            </a:endParaRPr>
          </a:p>
        </p:txBody>
      </p:sp>
      <p:pic>
        <p:nvPicPr>
          <p:cNvPr id="5" name="ตัวแทนเนื้อหา 4">
            <a:extLst>
              <a:ext uri="{FF2B5EF4-FFF2-40B4-BE49-F238E27FC236}">
                <a16:creationId xmlns:a16="http://schemas.microsoft.com/office/drawing/2014/main" id="{E1C1E188-73C6-4821-9D9C-3C47AC5FB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121418"/>
            <a:ext cx="7924800" cy="3377164"/>
          </a:xfrm>
          <a:prstGeom prst="rect">
            <a:avLst/>
          </a:prstGeom>
        </p:spPr>
      </p:pic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2357A11D-0B97-4D08-831C-3F7B419B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3314374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BBF4900-2908-D700-3B2E-90DF03B1A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การแสดงผลโดยใช้ </a:t>
            </a:r>
            <a:r>
              <a:rPr lang="en-US" dirty="0"/>
              <a:t>Node JS</a:t>
            </a:r>
            <a:endParaRPr lang="th-TH" dirty="0"/>
          </a:p>
        </p:txBody>
      </p:sp>
      <p:graphicFrame>
        <p:nvGraphicFramePr>
          <p:cNvPr id="5" name="ตัวแทนเนื้อหา 4">
            <a:extLst>
              <a:ext uri="{FF2B5EF4-FFF2-40B4-BE49-F238E27FC236}">
                <a16:creationId xmlns:a16="http://schemas.microsoft.com/office/drawing/2014/main" id="{61453D7C-BF60-84AE-2D7D-57F412190C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412776"/>
          <a:ext cx="7924800" cy="47244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888432">
                  <a:extLst>
                    <a:ext uri="{9D8B030D-6E8A-4147-A177-3AD203B41FA5}">
                      <a16:colId xmlns:a16="http://schemas.microsoft.com/office/drawing/2014/main" val="651344023"/>
                    </a:ext>
                  </a:extLst>
                </a:gridCol>
                <a:gridCol w="4036368">
                  <a:extLst>
                    <a:ext uri="{9D8B030D-6E8A-4147-A177-3AD203B41FA5}">
                      <a16:colId xmlns:a16="http://schemas.microsoft.com/office/drawing/2014/main" val="3195316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32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คำสั่งแสดงผลทางหน้าจอ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32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ความหมาย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07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console.log</a:t>
                      </a:r>
                      <a:r>
                        <a:rPr lang="en-US" sz="2600" b="1" kern="1200" dirty="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("</a:t>
                      </a:r>
                      <a:r>
                        <a:rPr lang="th-TH" sz="2600" b="1" kern="1200" dirty="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ข้อความแรก");</a:t>
                      </a:r>
                      <a:endParaRPr lang="th-TH" sz="2600" b="1" i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ฟังก์ชันที่ใช้สำหรับพิมพ์ข้อมูลหรือข้อความต่างๆ ไปยังคอนโซลของ</a:t>
                      </a:r>
                      <a:r>
                        <a:rPr lang="th-TH" sz="26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เบ</a:t>
                      </a:r>
                      <a:r>
                        <a:rPr lang="th-TH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ราว์เซอร์หรือ </a:t>
                      </a:r>
                      <a:r>
                        <a:rPr lang="en-US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terminal. </a:t>
                      </a:r>
                      <a:r>
                        <a:rPr lang="th-TH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คอนโซลเป็นส่วนที่นักพัฒนาใช้เพื่อดู </a:t>
                      </a:r>
                      <a:r>
                        <a:rPr lang="en-US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output, debug, </a:t>
                      </a:r>
                      <a:r>
                        <a:rPr lang="th-TH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และติดตามการทำงานของโปรแกรม.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706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b="1" kern="1200" dirty="0" err="1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process.stdout.write</a:t>
                      </a:r>
                      <a:r>
                        <a:rPr lang="en-US" sz="2600" b="1" kern="1200" dirty="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("</a:t>
                      </a:r>
                      <a:r>
                        <a:rPr lang="th-TH" sz="2600" b="1" kern="1200" dirty="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ข้อความแรก");</a:t>
                      </a:r>
                      <a:endParaRPr lang="th-TH" sz="26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ฟังก์ชันที่ใช้สำหรับพิมพ์ผลลัพธ์ลงคอนโซลโดยไม่ขึ้นบรรทัดใหม่ใน </a:t>
                      </a:r>
                      <a:r>
                        <a:rPr lang="en-US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JavaScript,</a:t>
                      </a:r>
                      <a:r>
                        <a:rPr lang="th-TH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คุณสามารถใช้ </a:t>
                      </a:r>
                      <a:r>
                        <a:rPr lang="en-US" sz="26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process.stdout.write</a:t>
                      </a:r>
                      <a:r>
                        <a:rPr lang="en-US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()</a:t>
                      </a:r>
                      <a:r>
                        <a:rPr lang="th-TH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แทน </a:t>
                      </a:r>
                      <a:r>
                        <a:rPr lang="en-US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console.log()</a:t>
                      </a:r>
                      <a:r>
                        <a:rPr lang="th-TH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ได้. </a:t>
                      </a:r>
                      <a:r>
                        <a:rPr lang="en-US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console.log() </a:t>
                      </a:r>
                      <a:r>
                        <a:rPr lang="th-TH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จะเพิ่ม \</a:t>
                      </a:r>
                      <a:r>
                        <a:rPr lang="en-US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n (</a:t>
                      </a:r>
                      <a:r>
                        <a:rPr lang="th-TH" sz="26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ขึ้นบรรทัดใหม่) ที่ท้ายผลลัพธ์เสมอ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35392"/>
                  </a:ext>
                </a:extLst>
              </a:tr>
            </a:tbl>
          </a:graphicData>
        </a:graphic>
      </p:graphicFrame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132FCFDC-EAA9-1E7F-40A2-2A36CAE47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th-TH"/>
              <a:t>ผศ.ศรายุทธ เนียนกระโทก </a:t>
            </a:r>
            <a:r>
              <a:rPr lang="en-US"/>
              <a:t>(มหาวิทยาลัยราชภัฏนครราชสีมา)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3665175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456583AC-2FA6-B356-720A-89D33EFE09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th-TH" altLang="th-TH" sz="1200" dirty="0"/>
              <a:t>ผศ.ศรายุทธ เนียนกระโทก</a:t>
            </a:r>
            <a:r>
              <a:rPr lang="en-US" altLang="th-TH" sz="1200" dirty="0"/>
              <a:t> (</a:t>
            </a:r>
            <a:r>
              <a:rPr lang="en-US" altLang="th-TH" sz="1200" dirty="0" err="1"/>
              <a:t>มหาวิทยาลัยราชภัฏนครราชสีมา</a:t>
            </a:r>
            <a:r>
              <a:rPr lang="en-US" altLang="th-TH" sz="1200" dirty="0"/>
              <a:t>)</a:t>
            </a:r>
            <a:endParaRPr lang="th-TH" altLang="th-TH" sz="1200" dirty="0"/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D73F3F01-BABC-A769-9353-57CE41058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52399"/>
            <a:ext cx="7704856" cy="1560477"/>
          </a:xfrm>
          <a:prstGeom prst="rect">
            <a:avLst/>
          </a:prstGeom>
        </p:spPr>
      </p:pic>
      <p:pic>
        <p:nvPicPr>
          <p:cNvPr id="10" name="รูปภาพ 9">
            <a:extLst>
              <a:ext uri="{FF2B5EF4-FFF2-40B4-BE49-F238E27FC236}">
                <a16:creationId xmlns:a16="http://schemas.microsoft.com/office/drawing/2014/main" id="{1936AECA-9735-2D2E-3CAB-BE1D359F9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72816"/>
            <a:ext cx="7776864" cy="272872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5CA1E-C961-9EAA-DF06-8437A82D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453019A0-060F-0165-664F-180D508E91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th-TH" altLang="th-TH" sz="1200" dirty="0"/>
              <a:t>ผศ.ศรายุทธ เนียนกระโทก</a:t>
            </a:r>
            <a:r>
              <a:rPr lang="en-US" altLang="th-TH" sz="1200" dirty="0"/>
              <a:t> (</a:t>
            </a:r>
            <a:r>
              <a:rPr lang="en-US" altLang="th-TH" sz="1200" dirty="0" err="1"/>
              <a:t>มหาวิทยาลัยราชภัฏนครราชสีมา</a:t>
            </a:r>
            <a:r>
              <a:rPr lang="en-US" altLang="th-TH" sz="1200" dirty="0"/>
              <a:t>)</a:t>
            </a:r>
            <a:endParaRPr lang="th-TH" altLang="th-TH" sz="1200" dirty="0"/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9FCA7282-3A33-5AC8-2822-A0B425F19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0"/>
            <a:ext cx="6080299" cy="667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158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70870DC-3403-D651-52A0-91CFB17A5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ผลลัพธ์</a:t>
            </a:r>
          </a:p>
        </p:txBody>
      </p:sp>
      <p:pic>
        <p:nvPicPr>
          <p:cNvPr id="5" name="ตัวแทนเนื้อหา 4">
            <a:extLst>
              <a:ext uri="{FF2B5EF4-FFF2-40B4-BE49-F238E27FC236}">
                <a16:creationId xmlns:a16="http://schemas.microsoft.com/office/drawing/2014/main" id="{FD5681DB-2F66-5ED1-644A-44664BD7C1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55576" y="2708920"/>
            <a:ext cx="7753337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255816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7" name="ตัวแทนเนื้อหา 6">
            <a:extLst>
              <a:ext uri="{FF2B5EF4-FFF2-40B4-BE49-F238E27FC236}">
                <a16:creationId xmlns:a16="http://schemas.microsoft.com/office/drawing/2014/main" id="{D258AAFD-733A-B203-DFFB-821DBC004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92496" y="214045"/>
            <a:ext cx="8147248" cy="1460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10">
            <a:extLst>
              <a:ext uri="{FF2B5EF4-FFF2-40B4-BE49-F238E27FC236}">
                <a16:creationId xmlns:a16="http://schemas.microsoft.com/office/drawing/2014/main" id="{A4EC9B7D-F717-D86D-4CCD-C767865FD4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th-TH" altLang="th-TH" sz="1200" dirty="0"/>
              <a:t>ผศ.ศรายุทธ เนียนกระโทก</a:t>
            </a:r>
            <a:r>
              <a:rPr lang="en-US" altLang="th-TH" sz="1200" dirty="0"/>
              <a:t> (</a:t>
            </a:r>
            <a:r>
              <a:rPr lang="en-US" altLang="th-TH" sz="1200" dirty="0" err="1"/>
              <a:t>มหาวิทยาลัยราชภัฏนครราชสีมา</a:t>
            </a:r>
            <a:r>
              <a:rPr lang="en-US" altLang="th-TH" sz="1200" dirty="0"/>
              <a:t>)</a:t>
            </a:r>
            <a:endParaRPr lang="th-TH" altLang="th-TH" sz="1200" dirty="0"/>
          </a:p>
        </p:txBody>
      </p:sp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13A4E3E0-51B6-EE2F-C768-6CB89E51D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9672"/>
            <a:ext cx="9148903" cy="355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875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>
            <a:extLst>
              <a:ext uri="{FF2B5EF4-FFF2-40B4-BE49-F238E27FC236}">
                <a16:creationId xmlns:a16="http://schemas.microsoft.com/office/drawing/2014/main" id="{F7E946CC-C0C6-52E3-24D1-6C04773BC9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th-TH" altLang="th-TH" sz="1200" dirty="0"/>
              <a:t>ผศ.ศรายุทธ เนียนกระโทก</a:t>
            </a:r>
            <a:r>
              <a:rPr lang="en-US" altLang="th-TH" sz="1200" dirty="0"/>
              <a:t> (</a:t>
            </a:r>
            <a:r>
              <a:rPr lang="en-US" altLang="th-TH" sz="1200" dirty="0" err="1"/>
              <a:t>มหาวิทยาลัยราชภัฏนครราชสีมา</a:t>
            </a:r>
            <a:r>
              <a:rPr lang="en-US" altLang="th-TH" sz="1200" dirty="0"/>
              <a:t>)</a:t>
            </a:r>
            <a:endParaRPr lang="th-TH" altLang="th-TH" sz="1200" dirty="0"/>
          </a:p>
        </p:txBody>
      </p:sp>
      <p:pic>
        <p:nvPicPr>
          <p:cNvPr id="10" name="ตัวแทนเนื้อหา 9">
            <a:extLst>
              <a:ext uri="{FF2B5EF4-FFF2-40B4-BE49-F238E27FC236}">
                <a16:creationId xmlns:a16="http://schemas.microsoft.com/office/drawing/2014/main" id="{9955FF62-7A98-90A3-7340-DB5D8381B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259632" y="152400"/>
            <a:ext cx="6048672" cy="6646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55682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83217-0D27-CF59-FCC8-040783BEA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FC38A56-5EEE-1B6E-2363-205B13C78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ผลลัพธ์</a:t>
            </a:r>
          </a:p>
        </p:txBody>
      </p:sp>
      <p:pic>
        <p:nvPicPr>
          <p:cNvPr id="9" name="ตัวแทนเนื้อหา 8">
            <a:extLst>
              <a:ext uri="{FF2B5EF4-FFF2-40B4-BE49-F238E27FC236}">
                <a16:creationId xmlns:a16="http://schemas.microsoft.com/office/drawing/2014/main" id="{9ED344C3-8396-859B-3BE3-6FD83B69A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2384884"/>
            <a:ext cx="8296489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667635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CC1159C9-11AF-F44B-BFCD-D70DF96883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th-TH" altLang="th-TH" sz="1200" dirty="0"/>
              <a:t>ผศ.ศรายุทธ เนียนกระโทก</a:t>
            </a:r>
            <a:r>
              <a:rPr lang="en-US" altLang="th-TH" sz="1200" dirty="0"/>
              <a:t> (</a:t>
            </a:r>
            <a:r>
              <a:rPr lang="en-US" altLang="th-TH" sz="1200" dirty="0" err="1"/>
              <a:t>มหาวิทยาลัยราชภัฏนครราชสีมา</a:t>
            </a:r>
            <a:r>
              <a:rPr lang="en-US" altLang="th-TH" sz="1200" dirty="0"/>
              <a:t>)</a:t>
            </a:r>
            <a:endParaRPr lang="th-TH" altLang="th-TH" sz="1200" dirty="0"/>
          </a:p>
        </p:txBody>
      </p:sp>
      <p:pic>
        <p:nvPicPr>
          <p:cNvPr id="8" name="รูปภาพ 7">
            <a:extLst>
              <a:ext uri="{FF2B5EF4-FFF2-40B4-BE49-F238E27FC236}">
                <a16:creationId xmlns:a16="http://schemas.microsoft.com/office/drawing/2014/main" id="{C6CF7AA7-9ACD-07CB-4D51-EA66D324C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56762"/>
            <a:ext cx="8885600" cy="1260875"/>
          </a:xfrm>
          <a:prstGeom prst="rect">
            <a:avLst/>
          </a:prstGeom>
        </p:spPr>
      </p:pic>
      <p:pic>
        <p:nvPicPr>
          <p:cNvPr id="10" name="รูปภาพ 9">
            <a:extLst>
              <a:ext uri="{FF2B5EF4-FFF2-40B4-BE49-F238E27FC236}">
                <a16:creationId xmlns:a16="http://schemas.microsoft.com/office/drawing/2014/main" id="{D4EBB300-4718-C956-B0EC-8B73FA22E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33" y="1405500"/>
            <a:ext cx="8649933" cy="352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539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>
            <a:extLst>
              <a:ext uri="{FF2B5EF4-FFF2-40B4-BE49-F238E27FC236}">
                <a16:creationId xmlns:a16="http://schemas.microsoft.com/office/drawing/2014/main" id="{34237D9F-FDB3-440F-6299-8376368D70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th-TH" altLang="th-TH" sz="1200" dirty="0"/>
              <a:t>ผศ.ศรายุทธ เนียนกระโทก</a:t>
            </a:r>
            <a:r>
              <a:rPr lang="en-US" altLang="th-TH" sz="1200" dirty="0"/>
              <a:t> (</a:t>
            </a:r>
            <a:r>
              <a:rPr lang="en-US" altLang="th-TH" sz="1200" dirty="0" err="1"/>
              <a:t>มหาวิทยาลัยราชภัฏนครราชสีมา</a:t>
            </a:r>
            <a:r>
              <a:rPr lang="en-US" altLang="th-TH" sz="1200" dirty="0"/>
              <a:t>)</a:t>
            </a:r>
            <a:endParaRPr lang="th-TH" altLang="th-TH" sz="1200" dirty="0"/>
          </a:p>
        </p:txBody>
      </p:sp>
      <p:pic>
        <p:nvPicPr>
          <p:cNvPr id="8" name="ตัวแทนเนื้อหา 7">
            <a:extLst>
              <a:ext uri="{FF2B5EF4-FFF2-40B4-BE49-F238E27FC236}">
                <a16:creationId xmlns:a16="http://schemas.microsoft.com/office/drawing/2014/main" id="{53E73617-37CC-742E-BC25-FDFF0FA9A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77743" y="152400"/>
            <a:ext cx="5788514" cy="640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74378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7D277-BCEF-E1B9-9F66-DBEF45788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5CE260E-0B58-A293-658D-7131BC03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ผลลัพธ์</a:t>
            </a:r>
          </a:p>
        </p:txBody>
      </p:sp>
      <p:pic>
        <p:nvPicPr>
          <p:cNvPr id="7" name="ตัวแทนเนื้อหา 6">
            <a:extLst>
              <a:ext uri="{FF2B5EF4-FFF2-40B4-BE49-F238E27FC236}">
                <a16:creationId xmlns:a16="http://schemas.microsoft.com/office/drawing/2014/main" id="{799C6DF8-4A4E-9DE7-A443-54EADACD60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69941" y="2492896"/>
            <a:ext cx="7404117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135616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:\picture\man\ppl1451_th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908720"/>
            <a:ext cx="4038600" cy="3848100"/>
          </a:xfrm>
          <a:prstGeom prst="rect">
            <a:avLst/>
          </a:prstGeom>
          <a:noFill/>
        </p:spPr>
      </p:pic>
      <p:sp>
        <p:nvSpPr>
          <p:cNvPr id="5" name="WordArt 5"/>
          <p:cNvSpPr>
            <a:spLocks noChangeArrowheads="1" noChangeShapeType="1" noTextEdit="1"/>
          </p:cNvSpPr>
          <p:nvPr/>
        </p:nvSpPr>
        <p:spPr bwMode="auto">
          <a:xfrm>
            <a:off x="1676400" y="4724400"/>
            <a:ext cx="6096000" cy="944563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US" sz="6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66"/>
                </a:solidFill>
                <a:cs typeface="LilyUPC"/>
              </a:rPr>
              <a:t>End</a:t>
            </a:r>
            <a:endParaRPr lang="th-TH" sz="60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0066"/>
              </a:solidFill>
              <a:cs typeface="LilyUPC"/>
            </a:endParaRPr>
          </a:p>
        </p:txBody>
      </p:sp>
      <p:pic>
        <p:nvPicPr>
          <p:cNvPr id="6" name="Picture 6" descr="E:\wwwroot\Personal\wss\Misc\dukeimag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4572000"/>
            <a:ext cx="1238250" cy="762000"/>
          </a:xfrm>
          <a:prstGeom prst="rect">
            <a:avLst/>
          </a:prstGeom>
          <a:noFill/>
          <a:effectLst>
            <a:reflection blurRad="6350" stA="50000" endA="300" endPos="5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การออกแบบเริ่มต้น">
  <a:themeElements>
    <a:clrScheme name="การออกแบบเริ่มต้น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การออกแบบเริ่มต้น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การออกแบบเริ่มต้น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การออกแบบเริ่มต้น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การออกแบบเริ่มต้น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การออกแบบเริ่มต้น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การออกแบบเริ่มต้น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การออกแบบเริ่มต้น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การออกแบบเริ่มต้น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การออกแบบเริ่มต้น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การออกแบบเริ่มต้น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การออกแบบเริ่มต้น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การออกแบบเริ่มต้น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การออกแบบเริ่มต้น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1234</TotalTime>
  <Words>2325</Words>
  <Application>Microsoft Office PowerPoint</Application>
  <PresentationFormat>นำเสนอทางหน้าจอ (4:3)</PresentationFormat>
  <Paragraphs>202</Paragraphs>
  <Slides>60</Slides>
  <Notes>1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8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60</vt:i4>
      </vt:variant>
    </vt:vector>
  </HeadingPairs>
  <TitlesOfParts>
    <vt:vector size="69" baseType="lpstr">
      <vt:lpstr>Angsana New</vt:lpstr>
      <vt:lpstr>Arial</vt:lpstr>
      <vt:lpstr>Calibri</vt:lpstr>
      <vt:lpstr>LilyUPC</vt:lpstr>
      <vt:lpstr>Segoe UI</vt:lpstr>
      <vt:lpstr>Tahoma</vt:lpstr>
      <vt:lpstr>TH Sarabun New</vt:lpstr>
      <vt:lpstr>TH SarabunPSK</vt:lpstr>
      <vt:lpstr>การออกแบบเริ่มต้น</vt:lpstr>
      <vt:lpstr>งานนำเสนอ PowerPoint</vt:lpstr>
      <vt:lpstr>โครงสร้างข้อมูลและขั้นตอนวิธีคืออะไร</vt:lpstr>
      <vt:lpstr>google</vt:lpstr>
      <vt:lpstr>Microsoft</vt:lpstr>
      <vt:lpstr>ประโยชน์ของโครงสร้างข้อมูล</vt:lpstr>
      <vt:lpstr>ประเภทของโครงสร้างข้อมูลแบ่งออกเป็น 2 ประเภท</vt:lpstr>
      <vt:lpstr>โครงสร้างข้อมูลเชิงเส้น (Linear Data Structures)</vt:lpstr>
      <vt:lpstr>โครงสร้างข้อมูลไม่เชิงเส้น (Non-Linear Data Structures)</vt:lpstr>
      <vt:lpstr>ขั้นตอนวิธี (Algorithm)</vt:lpstr>
      <vt:lpstr>หลักการของขั้นตอนวิธี (Algorithm)</vt:lpstr>
      <vt:lpstr>หลักการสำคัญของขั้นตอนวิธี (Algorithm)</vt:lpstr>
      <vt:lpstr>ตัวอย่างในชีวิตประจำวัน</vt:lpstr>
      <vt:lpstr>ตัวอย่างในทางคอมพิวเตอร์</vt:lpstr>
      <vt:lpstr>ขั้นตอนการชงกาแฟ</vt:lpstr>
      <vt:lpstr>ขั้นตอนการทอดไข่เจียว</vt:lpstr>
      <vt:lpstr>ขั้นตอนการโอนเงินที่ตู้ ATM</vt:lpstr>
      <vt:lpstr>แสดงขั้นตอนวิธีการปรุงบะหมี่กึ่งสำเร็จรูป</vt:lpstr>
      <vt:lpstr>ขั้นตอนวิธีของการพับนกด้วยกระดาษ</vt:lpstr>
      <vt:lpstr>วัตถุประสงค์</vt:lpstr>
      <vt:lpstr>โครงสร้างข้อมูลที่ดี</vt:lpstr>
      <vt:lpstr>สรุป</vt:lpstr>
      <vt:lpstr>จาวาสคริปต์ (JavaScript) คืออะไร</vt:lpstr>
      <vt:lpstr>ความสามารถของ JavaScript</vt:lpstr>
      <vt:lpstr>งานนำเสนอ PowerPoint</vt:lpstr>
      <vt:lpstr>Visual Studio Code</vt:lpstr>
      <vt:lpstr>Download Visual Studio Code </vt:lpstr>
      <vt:lpstr>หน้าหลักของโปรแกรม Visual Studio Code</vt:lpstr>
      <vt:lpstr>กำหนดเปิดตำแหน่งที่อยู่สำหรับเพิ่มต้นการเขียนโค้ด</vt:lpstr>
      <vt:lpstr>ปลั๊กอินช่วยในการเขียนโค้ด (HTML CSS Support)</vt:lpstr>
      <vt:lpstr>ปลั๊กอินช่วยในการสะกดคำ (HTML/CSS/JavaScript Snippets)</vt:lpstr>
      <vt:lpstr>Auto Rename Tag  ใช้สำหรับเปลี่ยนชื่อ HTML Tags ที่คู่กันให้โดยอัตโนมัติ</vt:lpstr>
      <vt:lpstr>ตัวอย่าง</vt:lpstr>
      <vt:lpstr>เปิดหรือแสดงผลบนเบราว์เซอร์โดยอัตโนมัติทุกครั้งที่มีการบันทึกไฟล์</vt:lpstr>
      <vt:lpstr>รูปแบบการเขียน JavaScript</vt:lpstr>
      <vt:lpstr>ปรับขนาดตัวอักษรสำหรับเขียนโค้ด</vt:lpstr>
      <vt:lpstr>1. แบบ Internal คือ กำหนด JavaScript ไว้ในส่วนของ &lt;head&gt;&lt;/head&gt; หรือ &lt;body&gt;&lt;/body&gt;</vt:lpstr>
      <vt:lpstr>2. แบบ External คือ กำหนด JavaScript ไว้เป็นไฟล์ด้านนอกที่มีนามสกุล .js จากนั้นก็นำเข้ามาทำงานในหน้าเว็บ หรือ html ไฟล์</vt:lpstr>
      <vt:lpstr>การแสดงข้อมูล</vt:lpstr>
      <vt:lpstr>ตัวอย่างการแสดงผลในรูปแบบต่าง</vt:lpstr>
      <vt:lpstr>Node JS</vt:lpstr>
      <vt:lpstr>เครื่องมือพื้นฐานเพิ่มเติม (Visual Studio Code)</vt:lpstr>
      <vt:lpstr>Download Node JS</vt:lpstr>
      <vt:lpstr>ตรวจสอบการติดตั้ง Node JS</vt:lpstr>
      <vt:lpstr>ทดสอบรัน JavaScript ผ่าน node JS</vt:lpstr>
      <vt:lpstr>ติดตั้ง Code Runner สำหรับช่วยรันโปรแกรม</vt:lpstr>
      <vt:lpstr>ติดตั้ง Prettier - Code formatter (สำหรับจัดรูปแบบเอกสาร JavaScript)</vt:lpstr>
      <vt:lpstr>จัดรูปแบบเอกสาร JavaScript </vt:lpstr>
      <vt:lpstr>ล้างข้อมูลทุกครั้งเมื่อทำการรันโปรแกรม</vt:lpstr>
      <vt:lpstr>ยกเลิกแสดงข้อความ [Running] [Done] </vt:lpstr>
      <vt:lpstr>การแสดงผลโดยใช้ Node JS</vt:lpstr>
      <vt:lpstr>งานนำเสนอ PowerPoint</vt:lpstr>
      <vt:lpstr>งานนำเสนอ PowerPoint</vt:lpstr>
      <vt:lpstr>ผลลัพธ์</vt:lpstr>
      <vt:lpstr> </vt:lpstr>
      <vt:lpstr>งานนำเสนอ PowerPoint</vt:lpstr>
      <vt:lpstr>ผลลัพธ์</vt:lpstr>
      <vt:lpstr> </vt:lpstr>
      <vt:lpstr>งานนำเสนอ PowerPoint</vt:lpstr>
      <vt:lpstr>ผลลัพธ์</vt:lpstr>
      <vt:lpstr>งานนำเสนอ PowerPoint</vt:lpstr>
    </vt:vector>
  </TitlesOfParts>
  <Company>NRRU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ภาพนิ่ง 1</dc:title>
  <dc:creator>sarayut</dc:creator>
  <cp:lastModifiedBy>SARAYUT  NEANKRATOK</cp:lastModifiedBy>
  <cp:revision>95</cp:revision>
  <dcterms:created xsi:type="dcterms:W3CDTF">2010-10-17T03:38:04Z</dcterms:created>
  <dcterms:modified xsi:type="dcterms:W3CDTF">2026-07-14T10:30:24Z</dcterms:modified>
</cp:coreProperties>
</file>